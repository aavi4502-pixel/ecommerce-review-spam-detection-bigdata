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914400"/>
            <a:ext cx="996696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280160"/>
            <a:ext cx="9235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8DDA"/>
                </a:solidFill>
              </a:defRPr>
            </a:pPr>
            <a:r>
              <a:t>COURSE: BIG DATA ANALYTICS (23AID302)</a:t>
            </a:r>
          </a:p>
          <a:p>
            <a:pPr>
              <a:spcBef>
                <a:spcPts val="800"/>
              </a:spcBef>
              <a:spcAft>
                <a:spcPts val="1600"/>
              </a:spcAft>
              <a:defRPr sz="3000" b="1">
                <a:solidFill>
                  <a:srgbClr val="0B192C"/>
                </a:solidFill>
              </a:defRPr>
            </a:pPr>
            <a:r>
              <a:t>E-Commerce Review Spam Detection</a:t>
            </a:r>
            <a:br/>
            <a:r>
              <a:t>Using Big Data</a:t>
            </a:r>
          </a:p>
          <a:p>
            <a:pPr>
              <a:spcAft>
                <a:spcPts val="2800"/>
              </a:spcAft>
              <a:defRPr sz="1400" i="1">
                <a:solidFill>
                  <a:srgbClr val="6C757D"/>
                </a:solidFill>
              </a:defRPr>
            </a:pPr>
            <a:r>
              <a:t>A Scalable Distributed Pipeline Using Hadoop HDFS, MapReduce, Scala, Apache Spark &amp; Spark MLlib</a:t>
            </a:r>
          </a:p>
          <a:p>
            <a:pPr>
              <a:defRPr sz="1100" b="1">
                <a:solidFill>
                  <a:srgbClr val="008DDA"/>
                </a:solidFill>
              </a:defRPr>
            </a:pPr>
            <a:r>
              <a:t>PRESENTED BY:</a:t>
            </a:r>
          </a:p>
          <a:p>
            <a:pPr>
              <a:spcBef>
                <a:spcPts val="400"/>
              </a:spcBef>
              <a:defRPr sz="1300">
                <a:solidFill>
                  <a:srgbClr val="212529"/>
                </a:solidFill>
              </a:defRPr>
            </a:pPr>
            <a:r>
              <a:t>• Team Member Name(s):  [Your Name / Team Members]</a:t>
            </a:r>
            <a:br/>
            <a:r>
              <a:t>• Register Number(s):       [Your Register Number(s)]</a:t>
            </a:r>
            <a:br/>
            <a:r>
              <a:t>• Faculty / Supervisor:      [Faculty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DDA"/>
                </a:solidFill>
              </a:defRPr>
            </a:pPr>
            <a:r>
              <a:t>BIG DATA ANALYTICS | FINAL PROJECT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92C"/>
                </a:solidFill>
              </a:defRPr>
            </a:pPr>
            <a:r>
              <a:t>Problem Statement, Objectives &amp; Why Big Data is Needed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192C"/>
                </a:solidFill>
              </a:defRPr>
            </a:pPr>
            <a:r>
              <a:t>1. Problem Statement</a:t>
            </a:r>
          </a:p>
          <a:p>
            <a:pPr>
              <a:spcBef>
                <a:spcPts val="800"/>
              </a:spcBef>
              <a:defRPr sz="1200">
                <a:solidFill>
                  <a:srgbClr val="212529"/>
                </a:solidFill>
              </a:defRPr>
            </a:pPr>
            <a:r>
              <a:t>• Modern e-commerce platforms (Amazon) rely heavily on user reviews for consumer trust.</a:t>
            </a:r>
          </a:p>
          <a:p>
            <a:pPr>
              <a:spcBef>
                <a:spcPts val="800"/>
              </a:spcBef>
              <a:defRPr sz="1200">
                <a:solidFill>
                  <a:srgbClr val="212529"/>
                </a:solidFill>
              </a:defRPr>
            </a:pPr>
            <a:r>
              <a:t>• Malicious sellers flood products with fake positive spam reviews to artificially inflate ratings.</a:t>
            </a:r>
          </a:p>
          <a:p>
            <a:pPr>
              <a:spcBef>
                <a:spcPts val="800"/>
              </a:spcBef>
              <a:defRPr sz="1200">
                <a:solidFill>
                  <a:srgbClr val="212529"/>
                </a:solidFill>
              </a:defRPr>
            </a:pPr>
            <a:r>
              <a:t>• Competitors post fake 1-star attack reviews to sabotage rival products.</a:t>
            </a:r>
          </a:p>
          <a:p>
            <a:pPr>
              <a:spcBef>
                <a:spcPts val="800"/>
              </a:spcBef>
              <a:defRPr sz="1200">
                <a:solidFill>
                  <a:srgbClr val="212529"/>
                </a:solidFill>
              </a:defRPr>
            </a:pPr>
            <a:r>
              <a:t>• Manual moderation fails completely due to the massive volume of incoming customer reviews.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64592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192C"/>
                </a:solidFill>
              </a:defRPr>
            </a:pPr>
            <a:r>
              <a:t>2. Project Objectives</a:t>
            </a:r>
          </a:p>
          <a:p>
            <a:pPr>
              <a:spcBef>
                <a:spcPts val="800"/>
              </a:spcBef>
              <a:defRPr sz="1200">
                <a:solidFill>
                  <a:srgbClr val="212529"/>
                </a:solidFill>
              </a:defRPr>
            </a:pPr>
            <a:r>
              <a:t>• Distributed Ingestion: Store 232+ million reviews reliably across Hadoop HDFS DataNodes.</a:t>
            </a:r>
          </a:p>
          <a:p>
            <a:pPr>
              <a:spcBef>
                <a:spcPts val="800"/>
              </a:spcBef>
              <a:defRPr sz="1200">
                <a:solidFill>
                  <a:srgbClr val="212529"/>
                </a:solidFill>
              </a:defRPr>
            </a:pPr>
            <a:r>
              <a:t>• Batch Processing: Run MapReduce and Scala preprocessing jobs to clean data.</a:t>
            </a:r>
          </a:p>
          <a:p>
            <a:pPr>
              <a:spcBef>
                <a:spcPts val="800"/>
              </a:spcBef>
              <a:defRPr sz="1200">
                <a:solidFill>
                  <a:srgbClr val="212529"/>
                </a:solidFill>
              </a:defRPr>
            </a:pPr>
            <a:r>
              <a:t>• Storage Optimization: Convert 140 GB raw JSON into an optimized 50 GB Parquet format.</a:t>
            </a:r>
          </a:p>
          <a:p>
            <a:pPr>
              <a:spcBef>
                <a:spcPts val="800"/>
              </a:spcBef>
              <a:defRPr sz="1200">
                <a:solidFill>
                  <a:srgbClr val="212529"/>
                </a:solidFill>
              </a:defRPr>
            </a:pPr>
            <a:r>
              <a:t>• Multi-Feature MLlib: Train an automated NLP spam classifier using Spark MLlib.</a:t>
            </a:r>
          </a:p>
          <a:p>
            <a:pPr>
              <a:spcBef>
                <a:spcPts val="800"/>
              </a:spcBef>
              <a:defRPr sz="1200">
                <a:solidFill>
                  <a:srgbClr val="212529"/>
                </a:solidFill>
              </a:defRPr>
            </a:pPr>
            <a:r>
              <a:t>• Interactive Dashboard: Deploy a live web UI for real-time review spam inference.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192C"/>
                </a:solidFill>
              </a:defRPr>
            </a:pPr>
            <a:r>
              <a:t>3. Why Big Data is Needed</a:t>
            </a:r>
          </a:p>
          <a:p>
            <a:pPr>
              <a:spcBef>
                <a:spcPts val="800"/>
              </a:spcBef>
              <a:defRPr sz="1200">
                <a:solidFill>
                  <a:srgbClr val="212529"/>
                </a:solidFill>
              </a:defRPr>
            </a:pPr>
            <a:r>
              <a:t>• Dataset Scale: Over 140 GB uncompressed text with ~232.8 million records.</a:t>
            </a:r>
          </a:p>
          <a:p>
            <a:pPr>
              <a:spcBef>
                <a:spcPts val="800"/>
              </a:spcBef>
              <a:defRPr sz="1200">
                <a:solidFill>
                  <a:srgbClr val="212529"/>
                </a:solidFill>
              </a:defRPr>
            </a:pPr>
            <a:r>
              <a:t>• Single-Node Limit: Pandas &amp; MySQL crash with Out-Of-Memory (OOM) errors.</a:t>
            </a:r>
          </a:p>
          <a:p>
            <a:pPr>
              <a:spcBef>
                <a:spcPts val="800"/>
              </a:spcBef>
              <a:defRPr sz="1200">
                <a:solidFill>
                  <a:srgbClr val="212529"/>
                </a:solidFill>
              </a:defRPr>
            </a:pPr>
            <a:r>
              <a:t>• I/O Bottlenecks: Repeatedly parsing 140 GB of raw text takes hours on a single machine.</a:t>
            </a:r>
          </a:p>
          <a:p>
            <a:pPr>
              <a:spcBef>
                <a:spcPts val="800"/>
              </a:spcBef>
              <a:defRPr sz="1200">
                <a:solidFill>
                  <a:srgbClr val="212529"/>
                </a:solidFill>
              </a:defRPr>
            </a:pPr>
            <a:r>
              <a:t>• Solution: Distributed block storage (HDFS) + in-memory parallel computation (Spark DAG).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DDA"/>
                </a:solidFill>
              </a:defRPr>
            </a:pPr>
            <a:r>
              <a:t>BIG DATA ANALYTICS | FINAL PROJECT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92C"/>
                </a:solidFill>
              </a:defRPr>
            </a:pPr>
            <a:r>
              <a:t>Dataset Profile &amp; The 5 V's of Big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B192C"/>
                </a:solidFill>
              </a:defRPr>
            </a:pPr>
            <a:r>
              <a:t>Dataset Profile &amp; The 5 V's</a:t>
            </a:r>
          </a:p>
          <a:p>
            <a:pPr>
              <a:spcBef>
                <a:spcPts val="400"/>
              </a:spcBef>
            </a:pPr>
            <a:r>
              <a:rPr b="1" sz="1100">
                <a:solidFill>
                  <a:srgbClr val="008DDA"/>
                </a:solidFill>
              </a:rPr>
              <a:t>• Dataset Source: </a:t>
            </a:r>
            <a:r>
              <a:rPr sz="1100">
                <a:solidFill>
                  <a:srgbClr val="212529"/>
                </a:solidFill>
              </a:rPr>
              <a:t>Amazon Customer Reviews (All_Amazon_Review.json.gz).</a:t>
            </a:r>
          </a:p>
          <a:p>
            <a:pPr>
              <a:spcBef>
                <a:spcPts val="400"/>
              </a:spcBef>
            </a:pPr>
            <a:r>
              <a:rPr b="1" sz="1100">
                <a:solidFill>
                  <a:srgbClr val="008DDA"/>
                </a:solidFill>
              </a:rPr>
              <a:t>• Storage Footprint: </a:t>
            </a:r>
            <a:r>
              <a:rPr sz="1100">
                <a:solidFill>
                  <a:srgbClr val="212529"/>
                </a:solidFill>
              </a:rPr>
              <a:t>33.5 GB gzip -&gt; 140+ GB JSON -&gt; 49.8 GB Parquet in HDFS.</a:t>
            </a:r>
          </a:p>
          <a:p>
            <a:pPr>
              <a:spcBef>
                <a:spcPts val="400"/>
              </a:spcBef>
            </a:pPr>
            <a:r>
              <a:rPr b="1" sz="1100">
                <a:solidFill>
                  <a:srgbClr val="008DDA"/>
                </a:solidFill>
              </a:rPr>
              <a:t>• 1. VOLUME: </a:t>
            </a:r>
            <a:r>
              <a:rPr sz="1100">
                <a:solidFill>
                  <a:srgbClr val="212529"/>
                </a:solidFill>
              </a:rPr>
              <a:t>232.8M rows; 161 GB active replicated storage on 2 DataNodes.</a:t>
            </a:r>
          </a:p>
          <a:p>
            <a:pPr>
              <a:spcBef>
                <a:spcPts val="400"/>
              </a:spcBef>
            </a:pPr>
            <a:r>
              <a:rPr b="1" sz="1100">
                <a:solidFill>
                  <a:srgbClr val="008DDA"/>
                </a:solidFill>
              </a:rPr>
              <a:t>• 2. VARIETY: </a:t>
            </a:r>
            <a:r>
              <a:rPr sz="1100">
                <a:solidFill>
                  <a:srgbClr val="212529"/>
                </a:solidFill>
              </a:rPr>
              <a:t>Semi-structured JSON, unstructured text, columnar Parquet &amp; CSV.</a:t>
            </a:r>
          </a:p>
          <a:p>
            <a:pPr>
              <a:spcBef>
                <a:spcPts val="400"/>
              </a:spcBef>
            </a:pPr>
            <a:r>
              <a:rPr b="1" sz="1100">
                <a:solidFill>
                  <a:srgbClr val="008DDA"/>
                </a:solidFill>
              </a:rPr>
              <a:t>• 3. VELOCITY: </a:t>
            </a:r>
            <a:r>
              <a:rPr sz="1100">
                <a:solidFill>
                  <a:srgbClr val="212529"/>
                </a:solidFill>
              </a:rPr>
              <a:t>High-throughput streaming into Parquet; distributed in-memory DAG.</a:t>
            </a:r>
          </a:p>
          <a:p>
            <a:pPr>
              <a:spcBef>
                <a:spcPts val="400"/>
              </a:spcBef>
            </a:pPr>
            <a:r>
              <a:rPr b="1" sz="1100">
                <a:solidFill>
                  <a:srgbClr val="008DDA"/>
                </a:solidFill>
              </a:rPr>
              <a:t>• 4. VERACITY: </a:t>
            </a:r>
            <a:r>
              <a:rPr sz="1100">
                <a:solidFill>
                  <a:srgbClr val="212529"/>
                </a:solidFill>
              </a:rPr>
              <a:t>Tackling fake reviews, bot spam, unverified buyers &amp; rating noise.</a:t>
            </a:r>
          </a:p>
          <a:p>
            <a:pPr>
              <a:spcBef>
                <a:spcPts val="400"/>
              </a:spcBef>
            </a:pPr>
            <a:r>
              <a:rPr b="1" sz="1100">
                <a:solidFill>
                  <a:srgbClr val="008DDA"/>
                </a:solidFill>
              </a:rPr>
              <a:t>• 5. VALUE: </a:t>
            </a:r>
            <a:r>
              <a:rPr sz="1100">
                <a:solidFill>
                  <a:srgbClr val="212529"/>
                </a:solidFill>
              </a:rPr>
              <a:t>Restoring consumer trust, preventing fraud &amp; protecting sellers.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192C"/>
                </a:solidFill>
              </a:defRPr>
            </a:pPr>
            <a:r>
              <a:t>Key Attributes Used in Detection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0B192C"/>
                </a:solidFill>
              </a:rPr>
              <a:t>✔ verified (Boolean): </a:t>
            </a:r>
            <a:r>
              <a:rPr sz="1100">
                <a:solidFill>
                  <a:srgbClr val="212529"/>
                </a:solidFill>
              </a:rPr>
              <a:t>Primary Spam Marker. True = confirmed purchase; False = unverified/high-risk review.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0B192C"/>
                </a:solidFill>
              </a:rPr>
              <a:t>✔ reviewText (String): </a:t>
            </a:r>
            <a:r>
              <a:rPr sz="1100">
                <a:solidFill>
                  <a:srgbClr val="212529"/>
                </a:solidFill>
              </a:rPr>
              <a:t>Natural language review content analyzed by Spark MLlib for spam vocabulary.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0B192C"/>
                </a:solidFill>
              </a:rPr>
              <a:t>✔ overall (Double): </a:t>
            </a:r>
            <a:r>
              <a:rPr sz="1100">
                <a:solidFill>
                  <a:srgbClr val="212529"/>
                </a:solidFill>
              </a:rPr>
              <a:t>Star rating (1.0 to 5.0). Used to detect extreme rating clusters (5-star or 1-star).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0B192C"/>
                </a:solidFill>
              </a:rPr>
              <a:t>✔ helpful (Array[Int]): </a:t>
            </a:r>
            <a:r>
              <a:rPr sz="1100">
                <a:solidFill>
                  <a:srgbClr val="212529"/>
                </a:solidFill>
              </a:rPr>
              <a:t>[Upvotes, Total]. Real reviews gain upvotes; spam almost always receives 0 upvotes.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0B192C"/>
                </a:solidFill>
              </a:rPr>
              <a:t>✔ asin (String): </a:t>
            </a:r>
            <a:r>
              <a:rPr sz="1100">
                <a:solidFill>
                  <a:srgbClr val="212529"/>
                </a:solidFill>
              </a:rPr>
              <a:t>Amazon Product ID. Identifies products under high-volume spam attack waves.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0B192C"/>
                </a:solidFill>
              </a:rPr>
              <a:t>✔ reviewTime (String): </a:t>
            </a:r>
            <a:r>
              <a:rPr sz="1100">
                <a:solidFill>
                  <a:srgbClr val="212529"/>
                </a:solidFill>
              </a:rPr>
              <a:t>Publication timestamp. Exposes abnormal sudden temporal review spikes.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DDA"/>
                </a:solidFill>
              </a:defRPr>
            </a:pPr>
            <a:r>
              <a:t>BIG DATA ANALYTICS | FINAL PROJECT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92C"/>
                </a:solidFill>
              </a:defRPr>
            </a:pPr>
            <a:r>
              <a:t>System Architecture: End-to-End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05740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874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08DDA"/>
                </a:solidFill>
              </a:defRPr>
            </a:pPr>
            <a:r>
              <a:t>1. Raw Data Source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Amazon Reviews JSON.gz</a:t>
            </a:r>
            <a:br/>
            <a:r>
              <a:t>33.5 GB (Compressed)</a:t>
            </a:r>
            <a:br/>
            <a:r>
              <a:t>140+ GB Uncompressed</a:t>
            </a:r>
            <a:br/>
            <a:r>
              <a:t>232 Million Records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53512" y="1463040"/>
            <a:ext cx="205740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44952" y="1600200"/>
            <a:ext cx="1874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08DDA"/>
                </a:solidFill>
              </a:defRPr>
            </a:pPr>
            <a:r>
              <a:t>2. HDFS Storage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Hadoop 3.2.1 Cluster</a:t>
            </a:r>
            <a:br/>
            <a:r>
              <a:t>• 1 NameNode (:9870)</a:t>
            </a:r>
            <a:br/>
            <a:r>
              <a:t>• 2 DataNodes (Repl: 2)</a:t>
            </a:r>
            <a:br/>
            <a:r>
              <a:t>• 128 MB Block Size</a:t>
            </a:r>
            <a:br/>
            <a:r>
              <a:t>• 656 Parquet Blocks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75504" y="1463040"/>
            <a:ext cx="205740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66944" y="1600200"/>
            <a:ext cx="1874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08DDA"/>
                </a:solidFill>
              </a:defRPr>
            </a:pPr>
            <a:r>
              <a:t>3. Scala &amp; Spark Engine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Apache Spark 3.1.1</a:t>
            </a:r>
            <a:br/>
            <a:r>
              <a:t>• Scala Preprocessing</a:t>
            </a:r>
            <a:br/>
            <a:r>
              <a:t>• Zero-Shuffle Streaming</a:t>
            </a:r>
            <a:br/>
            <a:r>
              <a:t>• 50 GB Parquet Dataset</a:t>
            </a:r>
            <a:br/>
            <a:r>
              <a:t>• DAG Execution Engine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97496" y="1463040"/>
            <a:ext cx="205740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88936" y="1600200"/>
            <a:ext cx="1874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08DDA"/>
                </a:solidFill>
              </a:defRPr>
            </a:pPr>
            <a:r>
              <a:t>4. MLlib Pipeline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Spark MLlib NLP</a:t>
            </a:r>
            <a:br/>
            <a:r>
              <a:t>• Tokenizer &amp; TF-IDF</a:t>
            </a:r>
            <a:br/>
            <a:r>
              <a:t>• VectorAssembler</a:t>
            </a:r>
            <a:br/>
            <a:r>
              <a:t>• Logistic Regression</a:t>
            </a:r>
            <a:br/>
            <a:r>
              <a:t>• Standalone Cluster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19488" y="1463040"/>
            <a:ext cx="205740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928" y="1600200"/>
            <a:ext cx="1874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08DDA"/>
                </a:solidFill>
              </a:defRPr>
            </a:pPr>
            <a:r>
              <a:t>5. Outputs &amp; Dashboard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Analytics &amp; Frontend</a:t>
            </a:r>
            <a:br/>
            <a:r>
              <a:t>• 7 HDFS CSV Reports</a:t>
            </a:r>
            <a:br/>
            <a:r>
              <a:t>• Interactive Dashboard</a:t>
            </a:r>
            <a:br/>
            <a:r>
              <a:t>• Real-Time Inference</a:t>
            </a:r>
            <a:br/>
            <a:r>
              <a:t>• Port 5000 Live UI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937760"/>
            <a:ext cx="10698480" cy="1371600"/>
          </a:xfrm>
          <a:prstGeom prst="roundRect">
            <a:avLst/>
          </a:prstGeom>
          <a:solidFill>
            <a:srgbClr val="EBF5FF"/>
          </a:solidFill>
          <a:ln w="12700">
            <a:solidFill>
              <a:srgbClr val="008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02920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B192C"/>
                </a:solidFill>
              </a:defRPr>
            </a:pPr>
            <a:r>
              <a:t>Key Architectural Highlights:</a:t>
            </a:r>
          </a:p>
          <a:p>
            <a:pPr>
              <a:spcBef>
                <a:spcPts val="200"/>
              </a:spcBef>
              <a:defRPr sz="1100">
                <a:solidFill>
                  <a:srgbClr val="212529"/>
                </a:solidFill>
              </a:defRPr>
            </a:pPr>
            <a:r>
              <a:t>• Distributed Isolation: Deployed on Docker virtual bridge network connecting NameNode, 2 DataNodes, and Spark Master/Worker.</a:t>
            </a:r>
          </a:p>
          <a:p>
            <a:pPr>
              <a:spcBef>
                <a:spcPts val="200"/>
              </a:spcBef>
              <a:defRPr sz="1100">
                <a:solidFill>
                  <a:srgbClr val="212529"/>
                </a:solidFill>
              </a:defRPr>
            </a:pPr>
            <a:r>
              <a:t>• High Availability: Replication Factor = 2 ensures zero data loss even if one DataNode goes offline.</a:t>
            </a:r>
          </a:p>
          <a:p>
            <a:pPr>
              <a:spcBef>
                <a:spcPts val="200"/>
              </a:spcBef>
              <a:defRPr sz="1100">
                <a:solidFill>
                  <a:srgbClr val="212529"/>
                </a:solidFill>
              </a:defRPr>
            </a:pPr>
            <a:r>
              <a:t>• Two-Tier Spam Detection: Combines metadata behavioral screening (HDFS/Spark) with content-based NLP classification (MLlib).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DDA"/>
                </a:solidFill>
              </a:defRPr>
            </a:pPr>
            <a:r>
              <a:t>BIG DATA ANALYTICS | FINAL PROJECT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92C"/>
                </a:solidFill>
              </a:defRPr>
            </a:pPr>
            <a:r>
              <a:t>Spark Workflow: DataFrames, DAG, Partitioning &amp; Caching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578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8920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B192C"/>
                </a:solidFill>
              </a:defRPr>
            </a:pPr>
            <a:r>
              <a:t>1. DataFrame &amp; RDD Operations</a:t>
            </a:r>
          </a:p>
          <a:p>
            <a:pPr>
              <a:spcBef>
                <a:spcPts val="300"/>
              </a:spcBef>
              <a:defRPr sz="1100">
                <a:solidFill>
                  <a:srgbClr val="212529"/>
                </a:solidFill>
              </a:defRPr>
            </a:pPr>
            <a:r>
              <a:t>• High-Level API: Used Spark SQL DataFrames for clean, structured queries (groupBy, count, filter, select).</a:t>
            </a:r>
          </a:p>
          <a:p>
            <a:pPr>
              <a:spcBef>
                <a:spcPts val="300"/>
              </a:spcBef>
              <a:defRPr sz="1100">
                <a:solidFill>
                  <a:srgbClr val="212529"/>
                </a:solidFill>
              </a:defRPr>
            </a:pPr>
            <a:r>
              <a:t>• Under the Hood: Every DataFrame operation maps directly to resilient RDDs (MapPartitionsRDD, ShuffledRowRDD).</a:t>
            </a:r>
          </a:p>
          <a:p>
            <a:pPr>
              <a:spcBef>
                <a:spcPts val="300"/>
              </a:spcBef>
              <a:defRPr sz="1100">
                <a:solidFill>
                  <a:srgbClr val="212529"/>
                </a:solidFill>
              </a:defRPr>
            </a:pPr>
            <a:r>
              <a:t>• Lazy Evaluation: Spark builds an execution plan and only executes when an Action (.collect(), .write.csv()) is called.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463040"/>
            <a:ext cx="52578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600200"/>
            <a:ext cx="48920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B192C"/>
                </a:solidFill>
              </a:defRPr>
            </a:pPr>
            <a:r>
              <a:t>2. DAG Execution Engine</a:t>
            </a:r>
          </a:p>
          <a:p>
            <a:pPr>
              <a:spcBef>
                <a:spcPts val="300"/>
              </a:spcBef>
              <a:defRPr sz="1100">
                <a:solidFill>
                  <a:srgbClr val="212529"/>
                </a:solidFill>
              </a:defRPr>
            </a:pPr>
            <a:r>
              <a:t>• DAGScheduler: Automatically converts DataFrame operations into a Directed Acyclic Graph (DAG).</a:t>
            </a:r>
          </a:p>
          <a:p>
            <a:pPr>
              <a:spcBef>
                <a:spcPts val="300"/>
              </a:spcBef>
              <a:defRPr sz="1100">
                <a:solidFill>
                  <a:srgbClr val="212529"/>
                </a:solidFill>
              </a:defRPr>
            </a:pPr>
            <a:r>
              <a:t>• Stages: Splits execution into Stages at shuffle boundaries (e.g., wide transformations like groupBy).</a:t>
            </a:r>
          </a:p>
          <a:p>
            <a:pPr>
              <a:spcBef>
                <a:spcPts val="300"/>
              </a:spcBef>
              <a:defRPr sz="1100">
                <a:solidFill>
                  <a:srgbClr val="212529"/>
                </a:solidFill>
              </a:defRPr>
            </a:pPr>
            <a:r>
              <a:t>• Tasks: Dispatches individual tasks per partition across available CPU cores (local[4]).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86200"/>
            <a:ext cx="52578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23360"/>
            <a:ext cx="48920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B192C"/>
                </a:solidFill>
              </a:defRPr>
            </a:pPr>
            <a:r>
              <a:t>3. Partitioning Strategy</a:t>
            </a:r>
          </a:p>
          <a:p>
            <a:pPr>
              <a:spcBef>
                <a:spcPts val="300"/>
              </a:spcBef>
              <a:defRPr sz="1100">
                <a:solidFill>
                  <a:srgbClr val="212529"/>
                </a:solidFill>
              </a:defRPr>
            </a:pPr>
            <a:r>
              <a:t>• HDFS Alignment: Input Parquet dataset is split into 372 to 656 partitions matching 128 MB HDFS block sizes.</a:t>
            </a:r>
          </a:p>
          <a:p>
            <a:pPr>
              <a:spcBef>
                <a:spcPts val="300"/>
              </a:spcBef>
              <a:defRPr sz="1100">
                <a:solidFill>
                  <a:srgbClr val="212529"/>
                </a:solidFill>
              </a:defRPr>
            </a:pPr>
            <a:r>
              <a:t>• Parallel Task Allocation: Each partition is processed by a dedicated task thread without cross-node network lockup.</a:t>
            </a:r>
          </a:p>
          <a:p>
            <a:pPr>
              <a:spcBef>
                <a:spcPts val="300"/>
              </a:spcBef>
              <a:defRPr sz="1100">
                <a:solidFill>
                  <a:srgbClr val="212529"/>
                </a:solidFill>
              </a:defRPr>
            </a:pPr>
            <a:r>
              <a:t>• Zero Disk Shuffle: Avoided unnecessary .repartition() calls during conversion to prevent temporary file bloat.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886200"/>
            <a:ext cx="52578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4023360"/>
            <a:ext cx="48920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B192C"/>
                </a:solidFill>
              </a:defRPr>
            </a:pPr>
            <a:r>
              <a:t>4. Critical Caching Choices</a:t>
            </a:r>
          </a:p>
          <a:p>
            <a:pPr>
              <a:spcBef>
                <a:spcPts val="300"/>
              </a:spcBef>
              <a:defRPr sz="1100">
                <a:solidFill>
                  <a:srgbClr val="212529"/>
                </a:solidFill>
              </a:defRPr>
            </a:pPr>
            <a:r>
              <a:t>• Why We AVOIDED df.cache(): Uncompressed, the dataset expands to ~150 GB in memory, exceeding physical RAM and causing OutOfMemoryError.</a:t>
            </a:r>
          </a:p>
          <a:p>
            <a:pPr>
              <a:spcBef>
                <a:spcPts val="300"/>
              </a:spcBef>
              <a:defRPr sz="1100">
                <a:solidFill>
                  <a:srgbClr val="212529"/>
                </a:solidFill>
              </a:defRPr>
            </a:pPr>
            <a:r>
              <a:t>• Streaming from Parquet: Parquet's columnar format allows reading only required columns without loading full rows into memory.</a:t>
            </a:r>
          </a:p>
          <a:p>
            <a:pPr>
              <a:spcBef>
                <a:spcPts val="300"/>
              </a:spcBef>
              <a:defRPr sz="1100">
                <a:solidFill>
                  <a:srgbClr val="212529"/>
                </a:solidFill>
              </a:defRPr>
            </a:pPr>
            <a:r>
              <a:t>• Predicate Pushdown: Filters (e.g., overall, verified) are pushed to the storage layer, reading only relevant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DDA"/>
                </a:solidFill>
              </a:defRPr>
            </a:pPr>
            <a:r>
              <a:t>BIG DATA ANALYTICS | FINAL PROJECT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92C"/>
                </a:solidFill>
              </a:defRPr>
            </a:pPr>
            <a:r>
              <a:t>Scala Implementation: Project Structure &amp; Code Snippet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41148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74903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B192C"/>
                </a:solidFill>
              </a:defRPr>
            </a:pPr>
            <a:r>
              <a:t>Scala Role &amp; Project Structure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008DDA"/>
                </a:solidFill>
              </a:rPr>
              <a:t>• Project Directory: </a:t>
            </a:r>
            <a:r>
              <a:rPr sz="1100">
                <a:solidFill>
                  <a:srgbClr val="212529"/>
                </a:solidFill>
              </a:rPr>
              <a:t>F:\hadoop-project\scala\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008DDA"/>
                </a:solidFill>
              </a:rPr>
              <a:t>• Source Script: </a:t>
            </a:r>
            <a:r>
              <a:rPr sz="1100">
                <a:solidFill>
                  <a:srgbClr val="212529"/>
                </a:solidFill>
              </a:rPr>
              <a:t>AmazonPreprocessing.scala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008DDA"/>
                </a:solidFill>
              </a:rPr>
              <a:t>• Native Integration: </a:t>
            </a:r>
            <a:r>
              <a:rPr sz="1100">
                <a:solidFill>
                  <a:srgbClr val="212529"/>
                </a:solidFill>
              </a:rPr>
              <a:t>Apache Spark is natively written in Scala; Scala provides superior type-safety and JVM bytecode performance.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008DDA"/>
                </a:solidFill>
              </a:rPr>
              <a:t>• Functional Programming: </a:t>
            </a:r>
            <a:r>
              <a:rPr sz="1100">
                <a:solidFill>
                  <a:srgbClr val="212529"/>
                </a:solidFill>
              </a:rPr>
              <a:t>Utilized immutable variables (val), higher-order functions, and pattern matching expressions (when / otherwise).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008DDA"/>
                </a:solidFill>
              </a:rPr>
              <a:t>• HDFS Ingestion: </a:t>
            </a:r>
            <a:r>
              <a:rPr sz="1100">
                <a:solidFill>
                  <a:srgbClr val="212529"/>
                </a:solidFill>
              </a:rPr>
              <a:t>Reads raw sample data directly from hdfs://namenode:9000/project/test/ and outputs cleaned data to /project/cleaned/reviews_scala.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1463040"/>
            <a:ext cx="6309360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0" y="1600200"/>
            <a:ext cx="5943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38BDF8"/>
                </a:solidFill>
              </a:defRPr>
            </a:pPr>
            <a:r>
              <a:t>AmazonPreprocessing.scala (Core Functional Snippet)</a:t>
            </a:r>
          </a:p>
          <a:p>
            <a:pPr>
              <a:defRPr sz="1000">
                <a:solidFill>
                  <a:srgbClr val="F1F5F9"/>
                </a:solidFill>
                <a:latin typeface="Consolas"/>
              </a:defRPr>
            </a:pPr>
            <a:r>
              <a:t>// 1. Ingest raw review data from HDFS</a:t>
            </a:r>
            <a:br/>
            <a:r>
              <a:t>val reviews = spark.read.json("hdfs://namenode:9000/.../sample.json")</a:t>
            </a:r>
            <a:br/>
            <a:br/>
            <a:r>
              <a:t>// 2. Functional cleaning: Remove duplicates and missing text</a:t>
            </a:r>
            <a:br/>
            <a:r>
              <a:t>val cleanedReviews = reviews.dropDuplicates()</a:t>
            </a:r>
            <a:br/>
            <a:r>
              <a:t>  .filter(col("overall").between(1.0, 5.0))</a:t>
            </a:r>
            <a:br/>
            <a:r>
              <a:t>  .filter(col("reviewText").isNotNull)</a:t>
            </a:r>
            <a:br/>
            <a:r>
              <a:t>  .filter(length(trim(col("reviewText"))) &gt; 0)</a:t>
            </a:r>
            <a:br/>
            <a:br/>
            <a:r>
              <a:t>// 3. Conditional Feature Engineering (Sentiment derivation)</a:t>
            </a:r>
            <a:br/>
            <a:r>
              <a:t>val labeledReviews = cleanedReviews.withColumn("sentiment",</a:t>
            </a:r>
            <a:br/>
            <a:r>
              <a:t>  when(col("overall") &lt;= 2.0, "Negative")</a:t>
            </a:r>
            <a:br/>
            <a:r>
              <a:t>    .when(col("overall") === 3.0, "Neutral")</a:t>
            </a:r>
            <a:br/>
            <a:r>
              <a:t>    .when(col("overall") &gt;= 4.0, "Positive")</a:t>
            </a:r>
            <a:br/>
            <a:r>
              <a:t>    .otherwise("Unknown")</a:t>
            </a:r>
            <a:br/>
            <a:r>
              <a:t>)</a:t>
            </a:r>
            <a:br/>
            <a:br/>
            <a:r>
              <a:t>// 4. Save cleaned dataset back to HDFS</a:t>
            </a:r>
            <a:br/>
            <a:r>
              <a:t>labeledReviews.write.parquet("hdfs://namenode:9000/.../reviews_scala")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DDA"/>
                </a:solidFill>
              </a:defRPr>
            </a:pPr>
            <a:r>
              <a:t>BIG DATA ANALYTICS | FINAL PROJECT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92C"/>
                </a:solidFill>
              </a:defRPr>
            </a:pPr>
            <a:r>
              <a:t>Spark MLlib Pipeline: Multi-Feature Architecture &amp; Tuning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747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3200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B192C"/>
                </a:solidFill>
              </a:defRPr>
            </a:pPr>
            <a:r>
              <a:t>1. Feature Engineering</a:t>
            </a:r>
          </a:p>
          <a:p>
            <a:pPr>
              <a:spcBef>
                <a:spcPts val="300"/>
              </a:spcBef>
              <a:defRPr sz="1100">
                <a:solidFill>
                  <a:srgbClr val="212529"/>
                </a:solidFill>
              </a:defRPr>
            </a:pPr>
            <a:r>
              <a:t>Text Features (NLP):</a:t>
            </a:r>
          </a:p>
          <a:p>
            <a:pPr>
              <a:spcBef>
                <a:spcPts val="300"/>
              </a:spcBef>
              <a:defRPr sz="1100">
                <a:solidFill>
                  <a:srgbClr val="212529"/>
                </a:solidFill>
              </a:defRPr>
            </a:pPr>
            <a:r>
              <a:t>  • Tokenizer: Splits review sentences into lowercase word tokens.</a:t>
            </a:r>
          </a:p>
          <a:p>
            <a:pPr>
              <a:spcBef>
                <a:spcPts val="300"/>
              </a:spcBef>
              <a:defRPr sz="1100">
                <a:solidFill>
                  <a:srgbClr val="212529"/>
                </a:solidFill>
              </a:defRPr>
            </a:pPr>
            <a:r>
              <a:t>  • StopWordsRemover: Eliminates noise ('the', 'is', 'and', 'at').</a:t>
            </a:r>
          </a:p>
          <a:p>
            <a:pPr>
              <a:spcBef>
                <a:spcPts val="300"/>
              </a:spcBef>
              <a:defRPr sz="1100">
                <a:solidFill>
                  <a:srgbClr val="212529"/>
                </a:solidFill>
              </a:defRPr>
            </a:pPr>
            <a:r>
              <a:t>  • HashingTF: Maps tokens into 5,000-dimensional term frequencies.</a:t>
            </a:r>
          </a:p>
          <a:p>
            <a:pPr>
              <a:spcBef>
                <a:spcPts val="300"/>
              </a:spcBef>
              <a:defRPr sz="1100">
                <a:solidFill>
                  <a:srgbClr val="212529"/>
                </a:solidFill>
              </a:defRPr>
            </a:pPr>
            <a:r>
              <a:t>  • IDF: Computes Inverse Document Frequency to weight distinctive words.</a:t>
            </a:r>
          </a:p>
          <a:p>
            <a:pPr>
              <a:spcBef>
                <a:spcPts val="300"/>
              </a:spcBef>
              <a:defRPr sz="1100">
                <a:solidFill>
                  <a:srgbClr val="212529"/>
                </a:solidFill>
              </a:defRPr>
            </a:pPr>
            <a:r>
              <a:t>Metadata Features (Behavioral):</a:t>
            </a:r>
          </a:p>
          <a:p>
            <a:pPr>
              <a:spcBef>
                <a:spcPts val="300"/>
              </a:spcBef>
              <a:defRPr sz="1100">
                <a:solidFill>
                  <a:srgbClr val="212529"/>
                </a:solidFill>
              </a:defRPr>
            </a:pPr>
            <a:r>
              <a:t>  • Star Rating (overall): Detects extreme 5-star / 1-star skew.</a:t>
            </a:r>
          </a:p>
          <a:p>
            <a:pPr>
              <a:spcBef>
                <a:spcPts val="300"/>
              </a:spcBef>
              <a:defRPr sz="1100">
                <a:solidFill>
                  <a:srgbClr val="212529"/>
                </a:solidFill>
              </a:defRPr>
            </a:pPr>
            <a:r>
              <a:t>  • Character Length (review_len): Catches short bot boilerplate text.</a:t>
            </a:r>
          </a:p>
          <a:p>
            <a:pPr>
              <a:spcBef>
                <a:spcPts val="300"/>
              </a:spcBef>
              <a:defRPr sz="1100">
                <a:solidFill>
                  <a:srgbClr val="212529"/>
                </a:solidFill>
              </a:defRPr>
            </a:pPr>
            <a:r>
              <a:t>  • Helpful Votes (helpful_votes): Identifies lack of community upvotes.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463040"/>
            <a:ext cx="34747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1600200"/>
            <a:ext cx="3200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B192C"/>
                </a:solidFill>
              </a:defRPr>
            </a:pPr>
            <a:r>
              <a:t>2. VectorAssembler</a:t>
            </a:r>
          </a:p>
          <a:p>
            <a:pPr>
              <a:spcBef>
                <a:spcPts val="300"/>
              </a:spcBef>
              <a:defRPr sz="1100">
                <a:solidFill>
                  <a:srgbClr val="212529"/>
                </a:solidFill>
              </a:defRPr>
            </a:pPr>
            <a:r>
              <a:t>Multimodal Fusion:</a:t>
            </a:r>
          </a:p>
          <a:p>
            <a:pPr>
              <a:spcBef>
                <a:spcPts val="300"/>
              </a:spcBef>
              <a:defRPr sz="1100">
                <a:solidFill>
                  <a:srgbClr val="212529"/>
                </a:solidFill>
              </a:defRPr>
            </a:pPr>
            <a:r>
              <a:t>  • VectorAssembler concatenates the 5,000 text features with the 3 numerical metadata features.</a:t>
            </a:r>
          </a:p>
          <a:p>
            <a:pPr>
              <a:spcBef>
                <a:spcPts val="300"/>
              </a:spcBef>
              <a:defRPr sz="1100">
                <a:solidFill>
                  <a:srgbClr val="212529"/>
                </a:solidFill>
              </a:defRPr>
            </a:pPr>
            <a:r>
              <a:t>  • Result: A unified feature vector fed into the machine learning classifier.</a:t>
            </a:r>
          </a:p>
          <a:p>
            <a:pPr>
              <a:spcBef>
                <a:spcPts val="300"/>
              </a:spcBef>
              <a:defRPr sz="1100">
                <a:solidFill>
                  <a:srgbClr val="212529"/>
                </a:solidFill>
              </a:defRPr>
            </a:pPr>
            <a:r>
              <a:t>Composite Ground-Truth Labeling:</a:t>
            </a:r>
          </a:p>
          <a:p>
            <a:pPr>
              <a:spcBef>
                <a:spcPts val="300"/>
              </a:spcBef>
              <a:defRPr sz="1100">
                <a:solidFill>
                  <a:srgbClr val="212529"/>
                </a:solidFill>
              </a:defRPr>
            </a:pPr>
            <a:r>
              <a:t>  • SPAM (1.0): (verified == False) AND (overall == 5.0 OR 1.0) AND (review_len &lt; 150 OR helpful == 0).</a:t>
            </a:r>
          </a:p>
          <a:p>
            <a:pPr>
              <a:spcBef>
                <a:spcPts val="300"/>
              </a:spcBef>
              <a:defRPr sz="1100">
                <a:solidFill>
                  <a:srgbClr val="212529"/>
                </a:solidFill>
              </a:defRPr>
            </a:pPr>
            <a:r>
              <a:t>  • AUTHENTIC (0.0): Confirmed verified purchases with organic length.</a:t>
            </a:r>
          </a:p>
          <a:p>
            <a:pPr>
              <a:spcBef>
                <a:spcPts val="300"/>
              </a:spcBef>
              <a:defRPr sz="1100">
                <a:solidFill>
                  <a:srgbClr val="212529"/>
                </a:solidFill>
              </a:defRPr>
            </a:pPr>
            <a:r>
              <a:t>  • Avoids naively treating all unverified reviews as spam.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463040"/>
            <a:ext cx="34747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92440" y="1600200"/>
            <a:ext cx="3200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B192C"/>
                </a:solidFill>
              </a:defRPr>
            </a:pPr>
            <a:r>
              <a:t>3. Algorithm &amp; Tuning</a:t>
            </a:r>
          </a:p>
          <a:p>
            <a:pPr>
              <a:spcBef>
                <a:spcPts val="300"/>
              </a:spcBef>
              <a:defRPr sz="1100">
                <a:solidFill>
                  <a:srgbClr val="212529"/>
                </a:solidFill>
              </a:defRPr>
            </a:pPr>
            <a:r>
              <a:t>Classification Algorithm:</a:t>
            </a:r>
          </a:p>
          <a:p>
            <a:pPr>
              <a:spcBef>
                <a:spcPts val="300"/>
              </a:spcBef>
              <a:defRPr sz="1100">
                <a:solidFill>
                  <a:srgbClr val="212529"/>
                </a:solidFill>
              </a:defRPr>
            </a:pPr>
            <a:r>
              <a:t>  • Logistic Regression: Scalable linear classifier computing optimal decision boundary via convex optimization.</a:t>
            </a:r>
          </a:p>
          <a:p>
            <a:pPr>
              <a:spcBef>
                <a:spcPts val="300"/>
              </a:spcBef>
              <a:defRPr sz="1100">
                <a:solidFill>
                  <a:srgbClr val="212529"/>
                </a:solidFill>
              </a:defRPr>
            </a:pPr>
            <a:r>
              <a:t>Hyperparameter Tuning:</a:t>
            </a:r>
          </a:p>
          <a:p>
            <a:pPr>
              <a:spcBef>
                <a:spcPts val="300"/>
              </a:spcBef>
              <a:defRPr sz="1100">
                <a:solidFill>
                  <a:srgbClr val="212529"/>
                </a:solidFill>
              </a:defRPr>
            </a:pPr>
            <a:r>
              <a:t>  • maxIter = 15: Sufficient iterations for gradient convergence.</a:t>
            </a:r>
          </a:p>
          <a:p>
            <a:pPr>
              <a:spcBef>
                <a:spcPts val="300"/>
              </a:spcBef>
              <a:defRPr sz="1100">
                <a:solidFill>
                  <a:srgbClr val="212529"/>
                </a:solidFill>
              </a:defRPr>
            </a:pPr>
            <a:r>
              <a:t>  • regParam = 0.01: L2 Regularization to prevent overfitting on rare vocabulary.</a:t>
            </a:r>
          </a:p>
          <a:p>
            <a:pPr>
              <a:spcBef>
                <a:spcPts val="300"/>
              </a:spcBef>
              <a:defRPr sz="1100">
                <a:solidFill>
                  <a:srgbClr val="212529"/>
                </a:solidFill>
              </a:defRPr>
            </a:pPr>
            <a:r>
              <a:t>  • Data Partitioning: 80% Training (48,000) / 20% Testing (12,000).</a:t>
            </a:r>
          </a:p>
          <a:p>
            <a:pPr>
              <a:spcBef>
                <a:spcPts val="300"/>
              </a:spcBef>
              <a:defRPr sz="1100">
                <a:solidFill>
                  <a:srgbClr val="212529"/>
                </a:solidFill>
              </a:defRPr>
            </a:pPr>
            <a:r>
              <a:t>Deployment:</a:t>
            </a:r>
          </a:p>
          <a:p>
            <a:pPr>
              <a:spcBef>
                <a:spcPts val="300"/>
              </a:spcBef>
              <a:defRPr sz="1100">
                <a:solidFill>
                  <a:srgbClr val="212529"/>
                </a:solidFill>
              </a:defRPr>
            </a:pPr>
            <a:r>
              <a:t>  • Distributed training across Spark Standalone Cluster.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DDA"/>
                </a:solidFill>
              </a:defRPr>
            </a:pPr>
            <a:r>
              <a:t>BIG DATA ANALYTICS | FINAL PROJECT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92C"/>
                </a:solidFill>
              </a:defRPr>
            </a:pPr>
            <a:r>
              <a:t>Results: Metrics Table, Confusion Matrix &amp; Business Insights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3035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B192C"/>
                </a:solidFill>
              </a:defRPr>
            </a:pPr>
            <a:r>
              <a:t>Model Evaluation &amp; Comparison</a:t>
            </a:r>
          </a:p>
          <a:p>
            <a:pPr>
              <a:spcAft>
                <a:spcPts val="800"/>
              </a:spcAft>
              <a:defRPr sz="1100">
                <a:solidFill>
                  <a:srgbClr val="6C757D"/>
                </a:solidFill>
              </a:defRPr>
            </a:pPr>
            <a:r>
              <a:t>Multi-Feature Model vs. Baseline Text-Only Model (12,000 Test Records):</a:t>
            </a:r>
          </a:p>
          <a:p>
            <a:pPr>
              <a:spcBef>
                <a:spcPts val="400"/>
              </a:spcBef>
              <a:defRPr b="1" sz="1100">
                <a:solidFill>
                  <a:srgbClr val="008DDA"/>
                </a:solidFill>
              </a:defRPr>
            </a:pPr>
            <a:r>
              <a:t>Metric             | Baseline (Text-Only) | Multi-Feature Model (Ours)</a:t>
            </a:r>
          </a:p>
          <a:p>
            <a:pPr>
              <a:spcBef>
                <a:spcPts val="400"/>
              </a:spcBef>
              <a:defRPr sz="1100">
                <a:solidFill>
                  <a:srgbClr val="212529"/>
                </a:solidFill>
              </a:defRPr>
            </a:pPr>
            <a:r>
              <a:t>Accuracy           | 81.03%               | 88.64% (+7.6%)</a:t>
            </a:r>
          </a:p>
          <a:p>
            <a:pPr>
              <a:spcBef>
                <a:spcPts val="400"/>
              </a:spcBef>
              <a:defRPr sz="1100">
                <a:solidFill>
                  <a:srgbClr val="212529"/>
                </a:solidFill>
              </a:defRPr>
            </a:pPr>
            <a:r>
              <a:t>Precision (Spam)   | 78.20%               | 86.72% (+8.5%)</a:t>
            </a:r>
          </a:p>
          <a:p>
            <a:pPr>
              <a:spcBef>
                <a:spcPts val="400"/>
              </a:spcBef>
              <a:defRPr sz="1100">
                <a:solidFill>
                  <a:srgbClr val="212529"/>
                </a:solidFill>
              </a:defRPr>
            </a:pPr>
            <a:r>
              <a:t>Recall (Spam)      | 74.50%               | 84.35% (+9.8%)</a:t>
            </a:r>
          </a:p>
          <a:p>
            <a:pPr>
              <a:spcBef>
                <a:spcPts val="400"/>
              </a:spcBef>
              <a:defRPr sz="1100">
                <a:solidFill>
                  <a:srgbClr val="212529"/>
                </a:solidFill>
              </a:defRPr>
            </a:pPr>
            <a:r>
              <a:t>F1-Score           | 76.30%               | 85.52% (+9.2%)</a:t>
            </a:r>
          </a:p>
          <a:p>
            <a:br/>
            <a:pPr>
              <a:defRPr b="1" sz="1200">
                <a:solidFill>
                  <a:srgbClr val="0B192C"/>
                </a:solidFill>
              </a:defRPr>
            </a:pPr>
            <a:r>
              <a:t>Confusion Matrix (Test Set):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• True Negatives (TN - Authentic Approved): 6,612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• True Positives (TP - Spam Caught):            4,025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• False Positives (FP - False Alarm):              616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• False Negatives (FN - Missed Spam):          747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463040"/>
            <a:ext cx="50292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B192C"/>
                </a:solidFill>
              </a:defRPr>
            </a:pPr>
            <a:r>
              <a:t>Key Business Insights (232M Reviews)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B192C"/>
                </a:solidFill>
              </a:rPr>
              <a:t>✔ Extreme 5-Star Bias: </a:t>
            </a:r>
            <a:r>
              <a:rPr sz="1100">
                <a:solidFill>
                  <a:srgbClr val="212529"/>
                </a:solidFill>
              </a:rPr>
              <a:t>148.5M reviews (63.8%) are 5-star ratings. E-commerce platforms suffer from massive positive skew, requiring spam filtering to restore rating integrity.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B192C"/>
                </a:solidFill>
              </a:rPr>
              <a:t>✔ Short Review Bot Clustering: </a:t>
            </a:r>
            <a:r>
              <a:rPr sz="1100">
                <a:solidFill>
                  <a:srgbClr val="212529"/>
                </a:solidFill>
              </a:rPr>
              <a:t>Reviews under 80 characters exhibit an 82.4% spam probability ('Great item', 'Loved it', 'Five stars').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B192C"/>
                </a:solidFill>
              </a:rPr>
              <a:t>✔ Helpfulness Validation: </a:t>
            </a:r>
            <a:r>
              <a:rPr sz="1100">
                <a:solidFill>
                  <a:srgbClr val="212529"/>
                </a:solidFill>
              </a:rPr>
              <a:t>Over 94% of confirmed spam reviews received 0 helpful community votes.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B192C"/>
                </a:solidFill>
              </a:rPr>
              <a:t>✔ Product Targeting: </a:t>
            </a:r>
            <a:r>
              <a:rPr sz="1100">
                <a:solidFill>
                  <a:srgbClr val="212529"/>
                </a:solidFill>
              </a:rPr>
              <a:t>Top-selling electronic accessories (Fire Stick, Echo Dot, MicroSD cards) receive over 300,000+ reviews each, making them prime targets for bot review campaigns.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DDA"/>
                </a:solidFill>
              </a:defRPr>
            </a:pPr>
            <a:r>
              <a:t>BIG DATA ANALYTICS | FINAL PROJECT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92C"/>
                </a:solidFill>
              </a:defRPr>
            </a:pPr>
            <a:r>
              <a:t>Engineering Challenges, Conclusion &amp; Future 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B192C"/>
                </a:solidFill>
              </a:defRPr>
            </a:pPr>
            <a:r>
              <a:t>Engineering Challenges Overcome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008DDA"/>
                </a:solidFill>
              </a:rPr>
              <a:t>• 230 GB Virtual Disk Spill: </a:t>
            </a:r>
            <a:r>
              <a:rPr sz="1100">
                <a:solidFill>
                  <a:srgbClr val="212529"/>
                </a:solidFill>
              </a:rPr>
              <a:t>Initial conversion using .repartition(200) filled the virtual disk with shuffle spill files and crashed Docker. Resolved by zero-shuffle in-memory streaming directly to Parquet.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008DDA"/>
                </a:solidFill>
              </a:rPr>
              <a:t>• Memory Heap Exhaustion (OOM): </a:t>
            </a:r>
            <a:r>
              <a:rPr sz="1100">
                <a:solidFill>
                  <a:srgbClr val="212529"/>
                </a:solidFill>
              </a:rPr>
              <a:t>Caching 140 GB uncompressed text exceeded RAM. Solved by streaming directly from Parquet columnar blocks with predicate pushdown in local[4] mode.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008DDA"/>
                </a:solidFill>
              </a:rPr>
              <a:t>• HDFS Under-Replicated Blocks: </a:t>
            </a:r>
            <a:r>
              <a:rPr sz="1100">
                <a:solidFill>
                  <a:srgbClr val="212529"/>
                </a:solidFill>
              </a:rPr>
              <a:t>Default HDFS replication factor was 3 on 2 DataNodes. Resolved by setting cluster replication strictly to 2 (0 under-replicated blocks).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008DDA"/>
                </a:solidFill>
              </a:rPr>
              <a:t>• Current Limitations: </a:t>
            </a:r>
            <a:r>
              <a:rPr sz="1100">
                <a:solidFill>
                  <a:srgbClr val="212529"/>
                </a:solidFill>
              </a:rPr>
              <a:t>Model evaluated primarily on English text reviews; ground truth utilizes composite behavioral heuristics as a proxy for physical purchase verification.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B192C"/>
                </a:solidFill>
              </a:defRPr>
            </a:pPr>
            <a:r>
              <a:t>Conclusion &amp; Future Work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0B192C"/>
                </a:solidFill>
              </a:rPr>
              <a:t>✔ Complete Lifecycle Mastery: </a:t>
            </a:r>
            <a:r>
              <a:rPr sz="1100">
                <a:solidFill>
                  <a:srgbClr val="212529"/>
                </a:solidFill>
              </a:rPr>
              <a:t>Successfully designed and deployed distributed storage (HDFS), batch processing (MapReduce), functional programming (Scala), query optimization (Parquet/DAG), and machine learning (Spark MLlib).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0B192C"/>
                </a:solidFill>
              </a:rPr>
              <a:t>✔ Proven Scalability: </a:t>
            </a:r>
            <a:r>
              <a:rPr sz="1100">
                <a:solidFill>
                  <a:srgbClr val="212529"/>
                </a:solidFill>
              </a:rPr>
              <a:t>Successfully handled 232 Million records (140+ GB) on consumer hardware without memory collapse.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0B192C"/>
                </a:solidFill>
              </a:rPr>
              <a:t>✔ High-Performance Accuracy: </a:t>
            </a:r>
            <a:r>
              <a:rPr sz="1100">
                <a:solidFill>
                  <a:srgbClr val="212529"/>
                </a:solidFill>
              </a:rPr>
              <a:t>Multi-feature classifier achieved 88.64% accuracy and 85.52% F1-score with low false alarms.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0B192C"/>
                </a:solidFill>
              </a:rPr>
              <a:t>✔ Future Scope - Deep Learning: </a:t>
            </a:r>
            <a:r>
              <a:rPr sz="1100">
                <a:solidFill>
                  <a:srgbClr val="212529"/>
                </a:solidFill>
              </a:rPr>
              <a:t>Incorporate transformer architectures (BERT / DistilBERT) for nuanced contextual sarcasm detection.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0B192C"/>
                </a:solidFill>
              </a:rPr>
              <a:t>✔ Future Scope - Graph Analytics: </a:t>
            </a:r>
            <a:r>
              <a:rPr sz="1100">
                <a:solidFill>
                  <a:srgbClr val="212529"/>
                </a:solidFill>
              </a:rPr>
              <a:t>Implement GraphX to detect collusive reviewer rings and coordinated spam-farm botnets.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DDA"/>
                </a:solidFill>
              </a:defRPr>
            </a:pPr>
            <a:r>
              <a:t>BIG DATA ANALYTICS | FINAL PROJECT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192C"/>
                </a:solidFill>
              </a:defRPr>
            </a:pPr>
            <a:r>
              <a:t>References &amp; Demonstration Deliverables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10149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B192C"/>
                </a:solidFill>
              </a:defRPr>
            </a:pPr>
            <a:r>
              <a:t>References, Code Repository &amp; Submitted Artifacts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008DDA"/>
                </a:solidFill>
              </a:rPr>
              <a:t>1. Dataset Reference: </a:t>
            </a:r>
            <a:r>
              <a:rPr sz="1100">
                <a:solidFill>
                  <a:srgbClr val="212529"/>
                </a:solidFill>
              </a:rPr>
              <a:t>Jianmo Ni, Jiacheng Li, Julian McAuley. 'Justifying Recommendations using Distantly-Labeled Reviews and Fine-Grained Aspects.' EMNLP 2019 (Amazon Customer Reviews).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008DDA"/>
                </a:solidFill>
              </a:rPr>
              <a:t>2. Apache Spark Reference: </a:t>
            </a:r>
            <a:r>
              <a:rPr sz="1100">
                <a:solidFill>
                  <a:srgbClr val="212529"/>
                </a:solidFill>
              </a:rPr>
              <a:t>Matei Zaharia et al. 'Apache Spark: A Unified Engine for Big Data Processing.' Communications of the ACM, 2016.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008DDA"/>
                </a:solidFill>
              </a:rPr>
              <a:t>3. Hadoop Architecture: </a:t>
            </a:r>
            <a:r>
              <a:rPr sz="1100">
                <a:solidFill>
                  <a:srgbClr val="212529"/>
                </a:solidFill>
              </a:rPr>
              <a:t>Tom White. 'Hadoop: The Definitive Guide - Storage and Analysis at Internet Scale.' O'Reilly Media, 4th Edition.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008DDA"/>
                </a:solidFill>
              </a:rPr>
              <a:t>4. Review Spam Literature: </a:t>
            </a:r>
            <a:r>
              <a:rPr sz="1100">
                <a:solidFill>
                  <a:srgbClr val="212529"/>
                </a:solidFill>
              </a:rPr>
              <a:t>Nitin Jindal and Bing Liu. 'Opinion Spam and Analysis.' Proceedings of the 2008 International Conference on Web Search and Data Mining (WSDM).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008DDA"/>
                </a:solidFill>
              </a:rPr>
              <a:t>5. GitHub Repository Link: </a:t>
            </a:r>
            <a:r>
              <a:rPr sz="1100">
                <a:solidFill>
                  <a:srgbClr val="212529"/>
                </a:solidFill>
              </a:rPr>
              <a:t>https://github.com/[username]/ecommerce-review-spam-detection-bigdata (Upload repository for code, Scala scripts, and Docker configs).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008DDA"/>
                </a:solidFill>
              </a:rPr>
              <a:t>6. Submitted Report File: </a:t>
            </a:r>
            <a:r>
              <a:rPr sz="1100">
                <a:solidFill>
                  <a:srgbClr val="212529"/>
                </a:solidFill>
              </a:rPr>
              <a:t>F:\hadoop-project\Ecommerce_Review_Spam_Detection_Project_Report.docx (Complete 11-Chapter Project Documentation).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008DDA"/>
                </a:solidFill>
              </a:rPr>
              <a:t>7. Live Interactive Dashboard: </a:t>
            </a:r>
            <a:r>
              <a:rPr sz="1100">
                <a:solidFill>
                  <a:srgbClr val="212529"/>
                </a:solidFill>
              </a:rPr>
              <a:t>http://localhost:5000/index.html (Features real-time review spam inference and dynamic analytics charts).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