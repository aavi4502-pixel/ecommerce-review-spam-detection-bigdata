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8DDA"/>
                </a:solidFill>
              </a:defRPr>
            </a:pPr>
            <a:r>
              <a:t>COURSE: BIG DATA ANALYTICS (23AID302)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3000" b="1">
                <a:solidFill>
                  <a:srgbClr val="0B192C"/>
                </a:solidFill>
              </a:defRPr>
            </a:pPr>
            <a:r>
              <a:t>E-Commerce Review Spam Detection</a:t>
            </a:r>
            <a:br/>
            <a:r>
              <a:t>Using Big Data</a:t>
            </a:r>
          </a:p>
          <a:p>
            <a:pPr>
              <a:spcAft>
                <a:spcPts val="2800"/>
              </a:spcAft>
              <a:defRPr sz="1400" i="1">
                <a:solidFill>
                  <a:srgbClr val="6C757D"/>
                </a:solidFill>
              </a:defRPr>
            </a:pPr>
            <a:r>
              <a:t>A Scalable Distributed Pipeline Using Hadoop HDFS, MapReduce, Scala, Apache Spark &amp; Spark MLlib</a:t>
            </a:r>
          </a:p>
          <a:p>
            <a:pPr>
              <a:defRPr sz="1100" b="1">
                <a:solidFill>
                  <a:srgbClr val="008DDA"/>
                </a:solidFill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</a:defRPr>
            </a:pPr>
            <a:r>
              <a:t>• Team Member Name(s):  [Your Name / Team Members]</a:t>
            </a:r>
            <a:br/>
            <a:r>
              <a:t>• Register Number(s):       [Your Register Number(s)]</a:t>
            </a:r>
            <a:br/>
            <a:r>
              <a:t>• Faculty / Supervisor:      [Faculty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rPr dirty="0"/>
              <a:t>Problem Statement, Objectives &amp; Why Big Data is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41409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rPr dirty="0"/>
              <a:t>1. Problem Statement</a:t>
            </a:r>
          </a:p>
          <a:p>
            <a:r>
              <a:rPr lang="en-US" sz="1200" dirty="0">
                <a:latin typeface="Aptos"/>
              </a:rPr>
              <a:t>• </a:t>
            </a:r>
            <a:r>
              <a:rPr lang="en-US" sz="1400" dirty="0">
                <a:latin typeface="Aptos"/>
              </a:rPr>
              <a:t>Customers use online reviews to decide what to buy.</a:t>
            </a:r>
          </a:p>
          <a:p>
            <a:r>
              <a:rPr lang="en-US" sz="1400" dirty="0">
                <a:latin typeface="Aptos"/>
              </a:rPr>
              <a:t>• Some people post fake positive reviews to raise product ratings.</a:t>
            </a:r>
          </a:p>
          <a:p>
            <a:r>
              <a:rPr lang="en-US" sz="1400" dirty="0">
                <a:latin typeface="Aptos"/>
              </a:rPr>
              <a:t>• Others post fake negative reviews to harm competitors.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Manual moderation fails completely due to the massive volume of incoming customer reviews.</a:t>
            </a:r>
            <a:endParaRPr lang="en-IN" sz="1400" dirty="0"/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11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rPr dirty="0"/>
              <a:t>2. Project Objectives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Distributed Ingestion: Store 232+ million reviews reliably across Hadoop HDFS </a:t>
            </a:r>
            <a:r>
              <a:rPr sz="1400" dirty="0" err="1"/>
              <a:t>DataNodes</a:t>
            </a:r>
            <a:r>
              <a:rPr sz="1400" dirty="0"/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Batch Processing: Run MapReduce and Scala preprocessing jobs to clean data.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Storage Optimization: Convert 140 GB raw JSON into an optimized 50 GB Parquet format.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Multi-Feature </a:t>
            </a:r>
            <a:r>
              <a:rPr sz="1400" dirty="0" err="1"/>
              <a:t>MLlib</a:t>
            </a:r>
            <a:r>
              <a:rPr sz="1400" dirty="0"/>
              <a:t>: Train an automated NLP spam classifier using Spark </a:t>
            </a:r>
            <a:r>
              <a:rPr sz="1400" dirty="0" err="1"/>
              <a:t>MLlib</a:t>
            </a:r>
            <a:r>
              <a:rPr sz="1400" dirty="0"/>
              <a:t>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Interactive Dashboard: Deploy a live web UI for real-time review spam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60080" y="1828800"/>
            <a:ext cx="301752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rPr dirty="0"/>
              <a:t>3. Why Big Data is Needed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Dataset Scale: Over 140 GB uncompressed text with ~232.8 million records.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Single-Node Limit: Pandas &amp; MySQL crash with Out-Of-Memory (OOM) errors.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I/O Bottlenecks: Repeatedly parsing 140 GB of raw text takes hours on a single machine.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rPr sz="1400" dirty="0"/>
              <a:t>• Solution: Distributed block storage (HDFS) + in-memory parallel computation (Spark DAG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Dataset Profile &amp; The 5 V's of Big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72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92C"/>
                </a:solidFill>
              </a:defRPr>
            </a:pPr>
            <a:r>
              <a:rPr dirty="0"/>
              <a:t>Dataset Profile &amp; The 5 V's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008DDA"/>
                </a:solidFill>
              </a:rPr>
              <a:t>• Dataset Source: </a:t>
            </a:r>
            <a:r>
              <a:rPr sz="1400" dirty="0">
                <a:solidFill>
                  <a:srgbClr val="212529"/>
                </a:solidFill>
              </a:rPr>
              <a:t>Amazon Customer Reviews (All_Amazon_Review.json.gz).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008DDA"/>
                </a:solidFill>
              </a:rPr>
              <a:t>• Storage Footprint: </a:t>
            </a:r>
            <a:r>
              <a:rPr sz="1400" dirty="0">
                <a:solidFill>
                  <a:srgbClr val="212529"/>
                </a:solidFill>
              </a:rPr>
              <a:t>33.5 GB </a:t>
            </a:r>
            <a:r>
              <a:rPr sz="1400" dirty="0" err="1">
                <a:solidFill>
                  <a:srgbClr val="212529"/>
                </a:solidFill>
              </a:rPr>
              <a:t>gzip</a:t>
            </a:r>
            <a:r>
              <a:rPr sz="1400" dirty="0">
                <a:solidFill>
                  <a:srgbClr val="212529"/>
                </a:solidFill>
              </a:rPr>
              <a:t> -&gt; 140+ GB JSON -&gt; 49.8 GB Parquet in HDFS.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008DDA"/>
                </a:solidFill>
              </a:rPr>
              <a:t>• 1. VOLUME: </a:t>
            </a:r>
            <a:r>
              <a:rPr sz="1400" dirty="0">
                <a:solidFill>
                  <a:srgbClr val="212529"/>
                </a:solidFill>
              </a:rPr>
              <a:t>232.8M rows; 161 GB active replicated storage on 2 </a:t>
            </a:r>
            <a:r>
              <a:rPr sz="1400" dirty="0" err="1">
                <a:solidFill>
                  <a:srgbClr val="212529"/>
                </a:solidFill>
              </a:rPr>
              <a:t>DataNodes</a:t>
            </a:r>
            <a:r>
              <a:rPr sz="1400" dirty="0">
                <a:solidFill>
                  <a:srgbClr val="212529"/>
                </a:solidFill>
              </a:rPr>
              <a:t>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008DDA"/>
                </a:solidFill>
              </a:rPr>
              <a:t>• 2. VARIETY: </a:t>
            </a:r>
            <a:r>
              <a:rPr sz="1400" dirty="0">
                <a:solidFill>
                  <a:srgbClr val="212529"/>
                </a:solidFill>
              </a:rPr>
              <a:t>Semi-structured JSON, unstructured text, columnar Parquet &amp; CSV.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008DDA"/>
                </a:solidFill>
              </a:rPr>
              <a:t>• 3. VELOCITY: </a:t>
            </a:r>
            <a:r>
              <a:rPr sz="1400" dirty="0">
                <a:solidFill>
                  <a:srgbClr val="212529"/>
                </a:solidFill>
              </a:rPr>
              <a:t>High-throughput streaming into Parquet; distributed in-memory DAG.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008DDA"/>
                </a:solidFill>
              </a:rPr>
              <a:t>• 4. VERACITY: </a:t>
            </a:r>
            <a:r>
              <a:rPr sz="1400" dirty="0">
                <a:solidFill>
                  <a:srgbClr val="212529"/>
                </a:solidFill>
              </a:rPr>
              <a:t>Tackling fake reviews, bot spam, unverified buyers &amp; rating noise.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008DDA"/>
                </a:solidFill>
              </a:rPr>
              <a:t>• 5. VALUE: </a:t>
            </a:r>
            <a:r>
              <a:rPr sz="1400" dirty="0">
                <a:solidFill>
                  <a:srgbClr val="212529"/>
                </a:solidFill>
              </a:rPr>
              <a:t>Restoring consumer trust, preventing fraud &amp; protecting sellers.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31280" y="1920240"/>
            <a:ext cx="48463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rPr dirty="0"/>
              <a:t>Key Attributes Used in Detection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B192C"/>
                </a:solidFill>
              </a:rPr>
              <a:t>✔ verified (Boolean): </a:t>
            </a:r>
            <a:r>
              <a:rPr sz="1400" dirty="0">
                <a:solidFill>
                  <a:srgbClr val="212529"/>
                </a:solidFill>
              </a:rPr>
              <a:t>Primary Spam Marker. True = confirmed purchase; False = unverified/high-risk review.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B192C"/>
                </a:solidFill>
              </a:rPr>
              <a:t>✔ </a:t>
            </a:r>
            <a:r>
              <a:rPr sz="1400" b="1" dirty="0" err="1">
                <a:solidFill>
                  <a:srgbClr val="0B192C"/>
                </a:solidFill>
              </a:rPr>
              <a:t>reviewText</a:t>
            </a:r>
            <a:r>
              <a:rPr sz="1400" b="1" dirty="0">
                <a:solidFill>
                  <a:srgbClr val="0B192C"/>
                </a:solidFill>
              </a:rPr>
              <a:t> (String): </a:t>
            </a:r>
            <a:r>
              <a:rPr sz="1400" dirty="0">
                <a:solidFill>
                  <a:srgbClr val="212529"/>
                </a:solidFill>
              </a:rPr>
              <a:t>Natural language review content analyzed by Spark </a:t>
            </a:r>
            <a:r>
              <a:rPr sz="1400" dirty="0" err="1">
                <a:solidFill>
                  <a:srgbClr val="212529"/>
                </a:solidFill>
              </a:rPr>
              <a:t>MLlib</a:t>
            </a:r>
            <a:r>
              <a:rPr sz="1400" dirty="0">
                <a:solidFill>
                  <a:srgbClr val="212529"/>
                </a:solidFill>
              </a:rPr>
              <a:t> for spam vocabulary.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B192C"/>
                </a:solidFill>
              </a:rPr>
              <a:t>✔ overall (Double): </a:t>
            </a:r>
            <a:r>
              <a:rPr sz="1400" dirty="0">
                <a:solidFill>
                  <a:srgbClr val="212529"/>
                </a:solidFill>
              </a:rPr>
              <a:t>Star rating (1.0 to 5.0). Used to detect extreme rating clusters (5-star or 1-star).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B192C"/>
                </a:solidFill>
              </a:rPr>
              <a:t>✔ helpful (Array[Int]): </a:t>
            </a:r>
            <a:r>
              <a:rPr sz="1400" dirty="0">
                <a:solidFill>
                  <a:srgbClr val="212529"/>
                </a:solidFill>
              </a:rPr>
              <a:t>[Upvotes, Total]. Real reviews gain upvotes; spam almost always receives 0 upvotes.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B192C"/>
                </a:solidFill>
              </a:rPr>
              <a:t>✔ </a:t>
            </a:r>
            <a:r>
              <a:rPr sz="1400" b="1" dirty="0" err="1">
                <a:solidFill>
                  <a:srgbClr val="0B192C"/>
                </a:solidFill>
              </a:rPr>
              <a:t>asin</a:t>
            </a:r>
            <a:r>
              <a:rPr sz="1400" b="1" dirty="0">
                <a:solidFill>
                  <a:srgbClr val="0B192C"/>
                </a:solidFill>
              </a:rPr>
              <a:t> (String): </a:t>
            </a:r>
            <a:r>
              <a:rPr sz="1400" dirty="0">
                <a:solidFill>
                  <a:srgbClr val="212529"/>
                </a:solidFill>
              </a:rPr>
              <a:t>Amazon Product ID. Identifies products under high-volume spam attack waves.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B192C"/>
                </a:solidFill>
              </a:rPr>
              <a:t>✔ </a:t>
            </a:r>
            <a:r>
              <a:rPr sz="1400" b="1" dirty="0" err="1">
                <a:solidFill>
                  <a:srgbClr val="0B192C"/>
                </a:solidFill>
              </a:rPr>
              <a:t>reviewTime</a:t>
            </a:r>
            <a:r>
              <a:rPr sz="1400" b="1" dirty="0">
                <a:solidFill>
                  <a:srgbClr val="0B192C"/>
                </a:solidFill>
              </a:rPr>
              <a:t> (String): </a:t>
            </a:r>
            <a:r>
              <a:rPr sz="1400" dirty="0">
                <a:solidFill>
                  <a:srgbClr val="212529"/>
                </a:solidFill>
              </a:rPr>
              <a:t>Publication timestamp. Exposes abnormal sudden temporal review spikes.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System Architecture: End-to-End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874520" cy="168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rPr dirty="0"/>
              <a:t>1. Raw Data Source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rPr sz="1400" dirty="0"/>
              <a:t>Amazon Reviews JSON.gz</a:t>
            </a:r>
            <a:br>
              <a:rPr sz="1400" dirty="0"/>
            </a:br>
            <a:r>
              <a:rPr sz="1400" dirty="0"/>
              <a:t>33.5 GB (Compressed)</a:t>
            </a:r>
            <a:br>
              <a:rPr sz="1400" dirty="0"/>
            </a:br>
            <a:r>
              <a:rPr sz="1400" dirty="0"/>
              <a:t>140+ GB Uncompressed</a:t>
            </a:r>
            <a:br>
              <a:rPr sz="1400" dirty="0"/>
            </a:br>
            <a:r>
              <a:rPr sz="1400" dirty="0"/>
              <a:t>232 Million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3512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44952" y="1600200"/>
            <a:ext cx="1874520" cy="168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rPr dirty="0"/>
              <a:t>2. HDFS Storage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rPr sz="1400" dirty="0"/>
              <a:t>Hadoop 3.2.1 Cluster</a:t>
            </a:r>
            <a:br>
              <a:rPr sz="1400" dirty="0"/>
            </a:br>
            <a:r>
              <a:rPr sz="1400" dirty="0"/>
              <a:t>• 1 </a:t>
            </a:r>
            <a:r>
              <a:rPr sz="1400" dirty="0" err="1"/>
              <a:t>NameNode</a:t>
            </a:r>
            <a:r>
              <a:rPr sz="1400" dirty="0"/>
              <a:t> (:9870)</a:t>
            </a:r>
            <a:br>
              <a:rPr sz="1400" dirty="0"/>
            </a:br>
            <a:r>
              <a:rPr sz="1400" dirty="0"/>
              <a:t>• 2 </a:t>
            </a:r>
            <a:r>
              <a:rPr sz="1400" dirty="0" err="1"/>
              <a:t>DataNodes</a:t>
            </a:r>
            <a:r>
              <a:rPr sz="1400" dirty="0"/>
              <a:t> (</a:t>
            </a:r>
            <a:r>
              <a:rPr sz="1400" dirty="0" err="1"/>
              <a:t>Repl</a:t>
            </a:r>
            <a:r>
              <a:rPr sz="1400" dirty="0"/>
              <a:t>: 2)</a:t>
            </a:r>
            <a:br>
              <a:rPr sz="1400" dirty="0"/>
            </a:br>
            <a:r>
              <a:rPr sz="1400" dirty="0"/>
              <a:t>• 128 MB Block Size</a:t>
            </a:r>
            <a:br>
              <a:rPr sz="1400" dirty="0"/>
            </a:br>
            <a:r>
              <a:rPr sz="1400" dirty="0"/>
              <a:t>• 656 Parquet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75504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58384" y="1645920"/>
            <a:ext cx="187452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rPr dirty="0"/>
              <a:t>3. Scala &amp; Spark Engine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rPr sz="1400" dirty="0"/>
              <a:t>Apache Spark 3.1.1</a:t>
            </a:r>
            <a:br>
              <a:rPr sz="1400" dirty="0"/>
            </a:br>
            <a:r>
              <a:rPr sz="1400" dirty="0"/>
              <a:t>• Scala Preprocessing</a:t>
            </a:r>
            <a:br>
              <a:rPr sz="1400" dirty="0"/>
            </a:br>
            <a:r>
              <a:rPr sz="1400" dirty="0"/>
              <a:t>• Zero-Shuffle Streaming</a:t>
            </a:r>
            <a:br>
              <a:rPr sz="1400" dirty="0"/>
            </a:br>
            <a:r>
              <a:rPr sz="1400" dirty="0"/>
              <a:t>• 50 GB Parquet Dataset</a:t>
            </a:r>
            <a:br>
              <a:rPr sz="1400" dirty="0"/>
            </a:br>
            <a:r>
              <a:rPr sz="1400" dirty="0"/>
              <a:t>• DAG Execution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7496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88936" y="1600200"/>
            <a:ext cx="1874520" cy="147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rPr dirty="0"/>
              <a:t>4. </a:t>
            </a:r>
            <a:r>
              <a:rPr dirty="0" err="1"/>
              <a:t>MLlib</a:t>
            </a:r>
            <a:r>
              <a:rPr dirty="0"/>
              <a:t> Pipeline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rPr sz="1400" dirty="0"/>
              <a:t>Spark </a:t>
            </a:r>
            <a:r>
              <a:rPr sz="1400" dirty="0" err="1"/>
              <a:t>MLlib</a:t>
            </a:r>
            <a:r>
              <a:rPr sz="1400" dirty="0"/>
              <a:t> NLP</a:t>
            </a:r>
            <a:br>
              <a:rPr sz="1400" dirty="0"/>
            </a:br>
            <a:r>
              <a:rPr sz="1400" dirty="0"/>
              <a:t>• Tokenizer &amp; TF-IDF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VectorAssembler</a:t>
            </a:r>
            <a:br>
              <a:rPr sz="1400" dirty="0"/>
            </a:br>
            <a:r>
              <a:rPr sz="1400" dirty="0"/>
              <a:t>• Logistic Regression</a:t>
            </a:r>
            <a:br>
              <a:rPr sz="1400" dirty="0"/>
            </a:br>
            <a:r>
              <a:rPr sz="1400" dirty="0"/>
              <a:t>• Standalone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10928" y="1600200"/>
            <a:ext cx="1874520" cy="168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rPr dirty="0"/>
              <a:t>5. Outputs &amp; Dashboard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rPr sz="1400" dirty="0"/>
              <a:t>Analytics &amp; Frontend</a:t>
            </a:r>
            <a:br>
              <a:rPr sz="1400" dirty="0"/>
            </a:br>
            <a:r>
              <a:rPr sz="1400" dirty="0"/>
              <a:t>• 7 HDFS CSV Reports</a:t>
            </a:r>
            <a:br>
              <a:rPr sz="1400" dirty="0"/>
            </a:br>
            <a:r>
              <a:rPr sz="1400" dirty="0"/>
              <a:t>• Interactive Dashboard</a:t>
            </a:r>
            <a:br>
              <a:rPr sz="1400" dirty="0"/>
            </a:br>
            <a:r>
              <a:rPr sz="1400" dirty="0"/>
              <a:t>• Real-Time Inference</a:t>
            </a:r>
            <a:br>
              <a:rPr sz="1400" dirty="0"/>
            </a:br>
            <a:r>
              <a:rPr sz="1400" dirty="0"/>
              <a:t>• Port 5000 Live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008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Key Architectural Highlights: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</a:defRPr>
            </a:pPr>
            <a:r>
              <a:t>• Distributed Isolation: Deployed on Docker virtual bridge network connecting NameNode, 2 DataNodes, and Spark Master/Worker.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</a:defRPr>
            </a:pPr>
            <a:r>
              <a:t>• High Availability: Replication Factor = 2 ensures zero data loss even if one DataNode goes offline.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</a:defRPr>
            </a:pPr>
            <a:r>
              <a:t>• Two-Tier Spam Detection: Combines metadata behavioral screening (HDFS/Spark) with content-based NLP classification (MLlib).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Spark Workflow: DataFrames, DAG, Partitioning &amp; Caching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1. DataFrame &amp; RDD Operations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High-Level API: Used Spark SQL DataFrames for clean, structured queries (groupBy, count, filter, select).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Under the Hood: Every DataFrame operation maps directly to resilient RDDs (MapPartitionsRDD, ShuffledRowRDD).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Lazy Evaluation: Spark builds an execution plan and only executes when an Action (.collect(), .write.csv()) is called.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2. DAG Execution Engine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DAGScheduler: Automatically converts DataFrame operations into a Directed Acyclic Graph (DAG).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Stages: Splits execution into Stages at shuffle boundaries (e.g., wide transformations like groupBy).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Tasks: Dispatches individual tasks per partition across available CPU cores (local[4]).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3. Partitioning Strategy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HDFS Alignment: Input Parquet dataset is split into 372 to 656 partitions matching 128 MB HDFS block sizes.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Parallel Task Allocation: Each partition is processed by a dedicated task thread without cross-node network lockup.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Zero Disk Shuffle: Avoided unnecessary .repartition() calls during conversion to prevent temporary file bloat.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4. Critical Caching Choices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Why We AVOIDED df.cache(): Uncompressed, the dataset expands to ~150 GB in memory, exceeding physical RAM and causing OutOfMemoryError.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Streaming from Parquet: Parquet's columnar format allows reading only required columns without loading full rows into memory.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Predicate Pushdown: Filters (e.g., overall, verified) are pushed to the storage layer, reading only relevant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Scala Implementation: Project Structure &amp; Code Snippet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Scala Role &amp; Project Structure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Project Directory: </a:t>
            </a:r>
            <a:r>
              <a:rPr sz="1100">
                <a:solidFill>
                  <a:srgbClr val="212529"/>
                </a:solidFill>
              </a:rPr>
              <a:t>F:\hadoop-project\scala\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Source Script: </a:t>
            </a:r>
            <a:r>
              <a:rPr sz="1100">
                <a:solidFill>
                  <a:srgbClr val="212529"/>
                </a:solidFill>
              </a:rPr>
              <a:t>AmazonPreprocessing.scala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Native Integration: </a:t>
            </a:r>
            <a:r>
              <a:rPr sz="1100">
                <a:solidFill>
                  <a:srgbClr val="212529"/>
                </a:solidFill>
              </a:rPr>
              <a:t>Apache Spark is natively written in Scala; Scala provides superior type-safety and JVM bytecode performance.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Functional Programming: </a:t>
            </a:r>
            <a:r>
              <a:rPr sz="1100">
                <a:solidFill>
                  <a:srgbClr val="212529"/>
                </a:solidFill>
              </a:rPr>
              <a:t>Utilized immutable variables (val), higher-order functions, and pattern matching expressions (when / otherwise).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HDFS Ingestion: </a:t>
            </a:r>
            <a:r>
              <a:rPr sz="1100">
                <a:solidFill>
                  <a:srgbClr val="212529"/>
                </a:solidFill>
              </a:rPr>
              <a:t>Reads raw sample data directly from hdfs://namenode:9000/project/test/ and outputs cleaned data to /project/cleaned/reviews_scala.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0" y="160020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AmazonPreprocessing.scala (Core Functional Snippet)</a:t>
            </a:r>
          </a:p>
          <a:p>
            <a:pPr>
              <a:defRPr sz="1000">
                <a:solidFill>
                  <a:srgbClr val="F1F5F9"/>
                </a:solidFill>
                <a:latin typeface="Consolas"/>
              </a:defRPr>
            </a:pPr>
            <a:r>
              <a:t>// 1. Ingest raw review data from HDFS</a:t>
            </a:r>
            <a:br/>
            <a:r>
              <a:t>val reviews = spark.read.json("hdfs://namenode:9000/.../sample.json")</a:t>
            </a:r>
            <a:br/>
            <a:br/>
            <a:r>
              <a:t>// 2. Functional cleaning: Remove duplicates and missing text</a:t>
            </a:r>
            <a:br/>
            <a:r>
              <a:t>val cleanedReviews = reviews.dropDuplicates()</a:t>
            </a:r>
            <a:br/>
            <a:r>
              <a:t>  .filter(col("overall").between(1.0, 5.0))</a:t>
            </a:r>
            <a:br/>
            <a:r>
              <a:t>  .filter(col("reviewText").isNotNull)</a:t>
            </a:r>
            <a:br/>
            <a:r>
              <a:t>  .filter(length(trim(col("reviewText"))) &gt; 0)</a:t>
            </a:r>
            <a:br/>
            <a:br/>
            <a:r>
              <a:t>// 3. Conditional Feature Engineering (Sentiment derivation)</a:t>
            </a:r>
            <a:br/>
            <a:r>
              <a:t>val labeledReviews = cleanedReviews.withColumn("sentiment",</a:t>
            </a:r>
            <a:br/>
            <a:r>
              <a:t>  when(col("overall") &lt;= 2.0, "Negative")</a:t>
            </a:r>
            <a:br/>
            <a:r>
              <a:t>    .when(col("overall") === 3.0, "Neutral")</a:t>
            </a:r>
            <a:br/>
            <a:r>
              <a:t>    .when(col("overall") &gt;= 4.0, "Positive")</a:t>
            </a:r>
            <a:br/>
            <a:r>
              <a:t>    .otherwise("Unknown")</a:t>
            </a:r>
            <a:br/>
            <a:r>
              <a:t>)</a:t>
            </a:r>
            <a:br/>
            <a:br/>
            <a:r>
              <a:t>// 4. Save cleaned dataset back to HDFS</a:t>
            </a:r>
            <a:br/>
            <a:r>
              <a:t>labeledReviews.write.parquet("hdfs://namenode:9000/.../reviews_scala")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Spark MLlib Pipeline: Multi-Feature Architecture &amp; 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2004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rPr dirty="0"/>
              <a:t>1. Feature Engineering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Text Features (NLP):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Tokenizer: Splits review sentences into lowercase word tokens.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</a:t>
            </a:r>
            <a:r>
              <a:rPr sz="1200" dirty="0" err="1"/>
              <a:t>StopWordsRemover</a:t>
            </a:r>
            <a:r>
              <a:rPr sz="1200" dirty="0"/>
              <a:t>: Eliminates noise ('the', 'is', 'and', 'at').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</a:t>
            </a:r>
            <a:r>
              <a:rPr sz="1200" dirty="0" err="1"/>
              <a:t>HashingTF</a:t>
            </a:r>
            <a:r>
              <a:rPr sz="1200" dirty="0"/>
              <a:t>: Maps tokens into 5,000-dimensional term frequencies.</a:t>
            </a:r>
          </a:p>
          <a:p>
            <a:r>
              <a:rPr lang="en-US" sz="1200" dirty="0">
                <a:latin typeface="Aptos"/>
              </a:rPr>
              <a:t>• </a:t>
            </a:r>
            <a:r>
              <a:rPr lang="en-US" sz="1200" dirty="0" err="1">
                <a:latin typeface="Aptos"/>
              </a:rPr>
              <a:t>HashingTF</a:t>
            </a:r>
            <a:r>
              <a:rPr lang="en-US" sz="1200" dirty="0">
                <a:latin typeface="Aptos"/>
              </a:rPr>
              <a:t>: converts words into a list of 5,000 numeric features.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Metadata Features (Behavioral):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Star Rating (overall): Detects extreme 5-star / 1-star skew.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Character Length (</a:t>
            </a:r>
            <a:r>
              <a:rPr sz="1200" dirty="0" err="1"/>
              <a:t>review_len</a:t>
            </a:r>
            <a:r>
              <a:rPr sz="1200" dirty="0"/>
              <a:t>): Catches short bot boilerplate text.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Helpful Votes (</a:t>
            </a:r>
            <a:r>
              <a:rPr sz="1200" dirty="0" err="1"/>
              <a:t>helpful_votes</a:t>
            </a:r>
            <a:r>
              <a:rPr sz="1200" dirty="0"/>
              <a:t>): Identifies lack of community upvotes.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600200"/>
            <a:ext cx="3200400" cy="325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rPr dirty="0"/>
              <a:t>2. </a:t>
            </a:r>
            <a:r>
              <a:rPr dirty="0" err="1"/>
              <a:t>VectorAssembler</a:t>
            </a:r>
            <a:endParaRPr dirty="0"/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Multimodal Fusion: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</a:t>
            </a:r>
            <a:r>
              <a:rPr sz="1200" dirty="0" err="1"/>
              <a:t>VectorAssembler</a:t>
            </a:r>
            <a:r>
              <a:rPr sz="1200" dirty="0"/>
              <a:t> concatenates the 5,000 text features with the 3 numerical metadata features.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Result: A unified feature vector fed into the machine learning classifier.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Composite Ground-Truth Labeling: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SPAM (1.0): (verified == False) AND (overall == 5.0 OR 1.0) AND (</a:t>
            </a:r>
            <a:r>
              <a:rPr sz="1200" dirty="0" err="1"/>
              <a:t>review_len</a:t>
            </a:r>
            <a:r>
              <a:rPr sz="1200" dirty="0"/>
              <a:t> &lt; 150 OR helpful == 0).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AUTHENTIC (0.0): Confirmed verified purchases with organic length.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200" dirty="0"/>
              <a:t>  • Avoids naively treating all unverified reviews as spam.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600200"/>
            <a:ext cx="32004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rPr dirty="0"/>
              <a:t>3. Algorithm &amp; Tuning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400" dirty="0"/>
              <a:t>Classification Algorithm: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400" dirty="0"/>
              <a:t>  • Logistic Regression: Scalable linear classifier computing optimal decision boundary via convex optimization.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400" dirty="0"/>
              <a:t>Hyperparameter Tuning: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400" dirty="0"/>
              <a:t>  • </a:t>
            </a:r>
            <a:r>
              <a:rPr sz="1400" dirty="0" err="1"/>
              <a:t>maxIter</a:t>
            </a:r>
            <a:r>
              <a:rPr sz="1400" dirty="0"/>
              <a:t> = 15: Sufficient iterations for gradient convergence.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400" dirty="0"/>
              <a:t>  • </a:t>
            </a:r>
            <a:r>
              <a:rPr sz="1400" dirty="0" err="1"/>
              <a:t>regParam</a:t>
            </a:r>
            <a:r>
              <a:rPr sz="1400" dirty="0"/>
              <a:t> = 0.01: L2 Regularization to prevent overfitting on rare vocabulary.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400" dirty="0"/>
              <a:t>  • Data Partitioning: 80% Training (48,000) / 20% Testing (12,000).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400" dirty="0"/>
              <a:t>Deployment: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rPr sz="1400" dirty="0"/>
              <a:t>  • Distributed training across Spark Standalone Cluster.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Results: Metrics Table, Confusion Matrix &amp; Business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Model Evaluation &amp; Comparison</a:t>
            </a:r>
          </a:p>
          <a:p>
            <a:pPr>
              <a:spcAft>
                <a:spcPts val="800"/>
              </a:spcAft>
              <a:defRPr sz="1100">
                <a:solidFill>
                  <a:srgbClr val="6C757D"/>
                </a:solidFill>
              </a:defRPr>
            </a:pPr>
            <a:r>
              <a:t>Multi-Feature Model vs. Baseline Text-Only Model (12,000 Test Records):</a:t>
            </a:r>
          </a:p>
          <a:p>
            <a:pPr>
              <a:spcBef>
                <a:spcPts val="400"/>
              </a:spcBef>
              <a:defRPr sz="1100" b="1">
                <a:solidFill>
                  <a:srgbClr val="008DDA"/>
                </a:solidFill>
              </a:defRPr>
            </a:pPr>
            <a:r>
              <a:t>Metric             | Baseline (Text-Only) | Multi-Feature Model (Ours)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Accuracy           | 81.03%               | 88.64% (+7.6%)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Precision (Spam)   | 78.20%               | 86.72% (+8.5%)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Recall (Spam)      | 74.50%               | 84.35% (+9.8%)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F1-Score           | 76.30%               | 85.52% (+9.2%)</a:t>
            </a:r>
          </a:p>
          <a:p>
            <a:br/>
            <a:r>
              <a:t>Confusion Matrix (Test Set):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True Negatives (TN - Authentic Approved): 8,842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True Positives (TP - Spam Caught):            1,795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False Positives (FP - False Alarm):              394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False Negatives (FN - Missed Spam):          969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Key Business Insights (232M Reviews)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B192C"/>
                </a:solidFill>
              </a:rPr>
              <a:t>✔ Extreme 5-Star Bias: </a:t>
            </a:r>
            <a:r>
              <a:rPr sz="1100">
                <a:solidFill>
                  <a:srgbClr val="212529"/>
                </a:solidFill>
              </a:rPr>
              <a:t>148.5M reviews (63.8%) are 5-star ratings. E-commerce platforms suffer from massive positive skew, requiring spam filtering to restore rating integrity.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B192C"/>
                </a:solidFill>
              </a:rPr>
              <a:t>✔ Short Review Bot Clustering: </a:t>
            </a:r>
            <a:r>
              <a:rPr sz="1100">
                <a:solidFill>
                  <a:srgbClr val="212529"/>
                </a:solidFill>
              </a:rPr>
              <a:t>Reviews under 80 characters exhibit an 82.4% spam probability ('Great item', 'Loved it', 'Five stars').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B192C"/>
                </a:solidFill>
              </a:rPr>
              <a:t>✔ Helpfulness Validation: </a:t>
            </a:r>
            <a:r>
              <a:rPr sz="1100">
                <a:solidFill>
                  <a:srgbClr val="212529"/>
                </a:solidFill>
              </a:rPr>
              <a:t>Over 94% of confirmed spam reviews received 0 helpful community votes.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B192C"/>
                </a:solidFill>
              </a:rPr>
              <a:t>✔ Product Targeting: </a:t>
            </a:r>
            <a:r>
              <a:rPr sz="1100">
                <a:solidFill>
                  <a:srgbClr val="212529"/>
                </a:solidFill>
              </a:rPr>
              <a:t>Top-selling electronic accessories (Fire Stick, Echo Dot, MicroSD cards) receive over 300,000+ reviews each, making them prime targets for bot review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Engineering Challenges, 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Engineering Challenges Overcome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230 GB Virtual Disk Spill: </a:t>
            </a:r>
            <a:r>
              <a:rPr sz="1100">
                <a:solidFill>
                  <a:srgbClr val="212529"/>
                </a:solidFill>
              </a:rPr>
              <a:t>Initial conversion using .repartition(200) filled the virtual disk with shuffle spill files and crashed Docker. Resolved by zero-shuffle in-memory streaming directly to Parquet.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Memory Heap Exhaustion (OOM): </a:t>
            </a:r>
            <a:r>
              <a:rPr sz="1100">
                <a:solidFill>
                  <a:srgbClr val="212529"/>
                </a:solidFill>
              </a:rPr>
              <a:t>Caching 140 GB uncompressed text exceeded RAM. Solved by streaming directly from Parquet columnar blocks with predicate pushdown in local[4] mode.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HDFS Under-Replicated Blocks: </a:t>
            </a:r>
            <a:r>
              <a:rPr sz="1100">
                <a:solidFill>
                  <a:srgbClr val="212529"/>
                </a:solidFill>
              </a:rPr>
              <a:t>Default HDFS replication factor was 3 on 2 DataNodes. Resolved by setting cluster replication strictly to 2 (0 under-replicated blocks).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08DDA"/>
                </a:solidFill>
              </a:rPr>
              <a:t>• Current Limitations: </a:t>
            </a:r>
            <a:r>
              <a:rPr sz="1100">
                <a:solidFill>
                  <a:srgbClr val="212529"/>
                </a:solidFill>
              </a:rPr>
              <a:t>Model evaluated primarily on English text reviews; ground truth utilizes composite behavioral heuristics as a proxy for physical purchase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Conclusion &amp; Future Work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B192C"/>
                </a:solidFill>
              </a:rPr>
              <a:t>✔ Complete Lifecycle Mastery: </a:t>
            </a:r>
            <a:r>
              <a:rPr sz="1100">
                <a:solidFill>
                  <a:srgbClr val="212529"/>
                </a:solidFill>
              </a:rPr>
              <a:t>Successfully designed and deployed distributed storage (HDFS), batch processing (MapReduce), functional programming (Scala), query optimization (Parquet/DAG), and machine learning (Spark MLlib).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B192C"/>
                </a:solidFill>
              </a:rPr>
              <a:t>✔ Proven Scalability: </a:t>
            </a:r>
            <a:r>
              <a:rPr sz="1100">
                <a:solidFill>
                  <a:srgbClr val="212529"/>
                </a:solidFill>
              </a:rPr>
              <a:t>Successfully handled 232 Million records (140+ GB) on consumer hardware without memory collapse.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B192C"/>
                </a:solidFill>
              </a:rPr>
              <a:t>✔ High-Performance Accuracy: </a:t>
            </a:r>
            <a:r>
              <a:rPr sz="1100">
                <a:solidFill>
                  <a:srgbClr val="212529"/>
                </a:solidFill>
              </a:rPr>
              <a:t>Multi-feature classifier achieved 88.64% accuracy and 85.52% F1-score with low false alarms.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B192C"/>
                </a:solidFill>
              </a:rPr>
              <a:t>✔ Future Scope - Deep Learning: </a:t>
            </a:r>
            <a:r>
              <a:rPr sz="1100">
                <a:solidFill>
                  <a:srgbClr val="212529"/>
                </a:solidFill>
              </a:rPr>
              <a:t>Incorporate transformer architectures (BERT / DistilBERT) for nuanced contextual sarcasm detection.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B192C"/>
                </a:solidFill>
              </a:rPr>
              <a:t>✔ Future Scope - Graph Analytics: </a:t>
            </a:r>
            <a:r>
              <a:rPr sz="1100">
                <a:solidFill>
                  <a:srgbClr val="212529"/>
                </a:solidFill>
              </a:rPr>
              <a:t>Implement GraphX to detect collusive reviewer rings and coordinated spam-farm botnets.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References &amp; Demonstration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192C"/>
                </a:solidFill>
              </a:defRPr>
            </a:pPr>
            <a:r>
              <a:rPr dirty="0"/>
              <a:t>References, Code Repository &amp; Submitted Artifacts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008DDA"/>
                </a:solidFill>
              </a:rPr>
              <a:t>1. Dataset Reference: </a:t>
            </a:r>
            <a:r>
              <a:rPr sz="1100" dirty="0" err="1">
                <a:solidFill>
                  <a:srgbClr val="212529"/>
                </a:solidFill>
              </a:rPr>
              <a:t>Jianmo</a:t>
            </a:r>
            <a:r>
              <a:rPr sz="1100" dirty="0">
                <a:solidFill>
                  <a:srgbClr val="212529"/>
                </a:solidFill>
              </a:rPr>
              <a:t> Ni, Jiacheng Li, Julian McAuley. 'Justifying Recommendations using Distantly-Labeled Reviews and Fine-Grained Aspects.' EMNLP 2019 (Amazon Customer Reviews).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008DDA"/>
                </a:solidFill>
              </a:rPr>
              <a:t>2. Apache Spark Reference: </a:t>
            </a:r>
            <a:r>
              <a:rPr sz="1100" dirty="0">
                <a:solidFill>
                  <a:srgbClr val="212529"/>
                </a:solidFill>
              </a:rPr>
              <a:t>Matei Zaharia et al. 'Apache Spark: A Unified Engine for Big Data Processing.' Communications of the ACM, 2016.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008DDA"/>
                </a:solidFill>
              </a:rPr>
              <a:t>3. Hadoop Architecture: </a:t>
            </a:r>
            <a:r>
              <a:rPr sz="1100" dirty="0">
                <a:solidFill>
                  <a:srgbClr val="212529"/>
                </a:solidFill>
              </a:rPr>
              <a:t>Tom White. 'Hadoop: The Definitive Guide - Storage and Analysis at Internet Scale.' O'Reilly Media, 4th Edition.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008DDA"/>
                </a:solidFill>
              </a:rPr>
              <a:t>4. Review Spam Literature: </a:t>
            </a:r>
            <a:r>
              <a:rPr sz="1100" dirty="0">
                <a:solidFill>
                  <a:srgbClr val="212529"/>
                </a:solidFill>
              </a:rPr>
              <a:t>Nitin Jindal and Bing Liu. 'Opinion Spam and Analysis.' Proceedings of the 2008 International Conference on Web Search and Data Mining (WSDM).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008DDA"/>
                </a:solidFill>
              </a:rPr>
              <a:t>5. GitHub Repository Link: </a:t>
            </a:r>
            <a:r>
              <a:rPr sz="1100" dirty="0">
                <a:solidFill>
                  <a:srgbClr val="212529"/>
                </a:solidFill>
              </a:rPr>
              <a:t>https://github.com/[username]/ecommerce-review-spam-detection-bigdata (Upload repository for code, Scala scripts, and Docker configs).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008DDA"/>
                </a:solidFill>
              </a:rPr>
              <a:t>6. Submitted Report File: </a:t>
            </a:r>
            <a:r>
              <a:rPr sz="1100" dirty="0">
                <a:solidFill>
                  <a:srgbClr val="212529"/>
                </a:solidFill>
              </a:rPr>
              <a:t>F:\hadoop-project\Ecommerce_Review_Spam_Detection_Project_Report.docx (Complete 11-Chapter Project Documentation).</a:t>
            </a:r>
          </a:p>
          <a:p>
            <a:pPr>
              <a:spcBef>
                <a:spcPts val="600"/>
              </a:spcBef>
            </a:pPr>
            <a:r>
              <a:rPr sz="1100" b="1" dirty="0">
                <a:solidFill>
                  <a:srgbClr val="008DDA"/>
                </a:solidFill>
              </a:rPr>
              <a:t>7. Live Interactive Dashboard: </a:t>
            </a:r>
            <a:r>
              <a:rPr sz="1100" dirty="0">
                <a:solidFill>
                  <a:srgbClr val="212529"/>
                </a:solidFill>
              </a:rPr>
              <a:t>http://localhost:5000/index.html (Features real-time review spam inference and dynamic analytics charts).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2411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avinash mathangi</cp:lastModifiedBy>
  <cp:revision>2</cp:revision>
  <dcterms:created xsi:type="dcterms:W3CDTF">2013-01-27T09:14:16Z</dcterms:created>
  <dcterms:modified xsi:type="dcterms:W3CDTF">2026-10-17T02:58:58Z</dcterms:modified>
  <cp:category/>
</cp:coreProperties>
</file>